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6858000" cx="12191675"/>
  <p:notesSz cx="6858000" cy="12191675"/>
  <p:embeddedFontLst>
    <p:embeddedFont>
      <p:font typeface="Roboto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65AB95-0354-442B-8A9C-EF306FA1A1F9}">
  <a:tblStyle styleId="{9665AB95-0354-442B-8A9C-EF306FA1A1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6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65" Type="http://schemas.openxmlformats.org/officeDocument/2006/relationships/font" Target="fonts/Robot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E5 has a lot of exciting work coming out, so I’ll be providing QR codes to relevant publications in the top corner as they come up</a:t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723f58c9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723f58c9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e8723f58c9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8723f58c9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8723f58c9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e8723f58c9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8723f58c9_0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8723f58c9_0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e8723f58c9_0_2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8723f58c9_0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8723f58c9_0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e8723f58c9_0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36a9b33e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36a9b33e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3 environmentally responsive, direct phys changes, reversible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f36a9b33e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885acf1488155b2_3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885acf1488155b2_3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3 environmentally responsive, direct phys changes, reversible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7885acf1488155b2_3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f36a9b33e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f36a9b33e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f36a9b33e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8723f58c9_0_617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8723f58c9_0_61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8723f58c9_0_1179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8723f58c9_0_1179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These species selected for their </a:t>
            </a:r>
            <a:r>
              <a:rPr lang="en-US"/>
              <a:t>diversity across phylogeny, tissue and skeletal morphology, symbiont associations, life history</a:t>
            </a:r>
            <a:br>
              <a:rPr lang="en-US"/>
            </a:br>
            <a:br>
              <a:rPr lang="en-US"/>
            </a:br>
            <a:r>
              <a:rPr lang="en-US"/>
              <a:t>P. evermanni: </a:t>
            </a:r>
            <a:br>
              <a:rPr lang="en-US"/>
            </a:br>
            <a:r>
              <a:rPr lang="en-US"/>
              <a:t>mounding, thick tissues, vertical symbiont transmission, environmentally tolerant, symbiont specialist</a:t>
            </a:r>
            <a:br>
              <a:rPr lang="en-US"/>
            </a:br>
            <a:br>
              <a:rPr lang="en-US"/>
            </a:br>
            <a:r>
              <a:rPr lang="en-US"/>
              <a:t>P. tuahiniensis:</a:t>
            </a:r>
            <a:br>
              <a:rPr lang="en-US"/>
            </a:br>
            <a:r>
              <a:rPr lang="en-US"/>
              <a:t>branching, thin tissues, vertical transmission, high recruitment post-disturbance, highly sensitive. Symbiont generalist</a:t>
            </a:r>
            <a:br>
              <a:rPr lang="en-US"/>
            </a:br>
            <a:br>
              <a:rPr lang="en-US"/>
            </a:br>
            <a:r>
              <a:rPr lang="en-US"/>
              <a:t>A. pulchra:</a:t>
            </a:r>
            <a:br>
              <a:rPr lang="en-US"/>
            </a:br>
            <a:r>
              <a:rPr lang="en-US"/>
              <a:t>branching, thin tissues, horizontal, high sensitivity, symbiont generalist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8723f58c9_0_1208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8723f58c9_0_1208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7885acf1488155b2_160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7885acf1488155b2_160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points selected to cover breadth of annual environmental variation (temperature, solar radiation, rainfall)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7885acf1488155b2_210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7885acf1488155b2_210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the next several slides, presenting work done using the data from only a single timepoint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88352366c_0_747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88352366c_0_74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554ba950_0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f5554ba950_0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5554ba950_0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576d84eb9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f576d84eb9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576d84eb9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94e08bec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f94e08bec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94e08bec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88352366c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e88352366c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88352366c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f36a9b33e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ef36a9b33e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ef36a9b33e_1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88352366c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e88352366c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e88352366c_0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7885acf1488155b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7885acf1488155b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7885acf1488155b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576d84eb9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f576d84eb9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f576d84eb9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7885acf1488155b2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7885acf1488155b2_3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7885acf1488155b2_3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7885acf1488155b2_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7885acf1488155b2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7885acf1488155b2_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7885acf1488155b2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7885acf1488155b2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7885acf1488155b2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7885acf1488155b2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7885acf1488155b2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7885acf1488155b2_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55440e06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55440e06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f55440e061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7885acf1488155b2_259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7885acf1488155b2_259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Linear regression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/>
            </a:br>
            <a:r>
              <a:rPr lang="en-US"/>
              <a:t>arg		value	meaning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alpha		0.5	equal L1/L2 mix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n_subsamples	50	stability-selection iterations per gene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pi_thr		0.6	selection-probability threshold for "stable"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var_filter_n	2000	top-N most-variable lncRNA &amp; WGBS predictors (unsupervised)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5554ba950_0_2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f5554ba950_0_2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Compiled sets of genes relevant to key physiological processes, relevant for evaluating environmental response (literature + GO)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570" name="Google Shape;570;g3f5554ba950_0_2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576d84eb9_0_3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f576d84eb9_0_3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00" name="Google Shape;600;g3f576d84eb9_0_3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f576d84eb9_0_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f576d84eb9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29" name="Google Shape;629;g3f576d84eb9_0_1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576d84eb9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f576d84eb9_0_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predictability is significantly enriched in growth and respiration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domain -&gt; function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659" name="Google Shape;659;g3f576d84eb9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e88352366c_0_10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g3e88352366c_0_10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e88352366c_0_10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7885acf1488155b2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7885acf1488155b2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could briefly mention that we have phys+symbiont data during initial sampling slides, so people aren’t surprised/suspicious</a:t>
            </a:r>
            <a:br>
              <a:rPr lang="en-US"/>
            </a:br>
            <a:br>
              <a:rPr lang="en-US"/>
            </a:br>
            <a:r>
              <a:rPr lang="en-US"/>
              <a:t>more detaili on how of these nxt steps</a:t>
            </a:r>
            <a:br>
              <a:rPr lang="en-US"/>
            </a:br>
            <a:br>
              <a:rPr lang="en-US"/>
            </a:br>
            <a:r>
              <a:rPr lang="en-US"/>
              <a:t>could shoutout ariana’a phys paper here</a:t>
            </a:r>
            <a:endParaRPr/>
          </a:p>
        </p:txBody>
      </p:sp>
      <p:sp>
        <p:nvSpPr>
          <p:cNvPr id="708" name="Google Shape;708;g7885acf1488155b2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7885acf1488155b2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g7885acf1488155b2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could briefly mention that we have phys+symbiont data during initial sampling slides, so people aren’t surprised/suspicious</a:t>
            </a:r>
            <a:br>
              <a:rPr lang="en-US"/>
            </a:br>
            <a:br>
              <a:rPr lang="en-US"/>
            </a:br>
            <a:r>
              <a:rPr lang="en-US"/>
              <a:t>more detaili on how of these nxt steps</a:t>
            </a:r>
            <a:br>
              <a:rPr lang="en-US"/>
            </a:br>
            <a:br>
              <a:rPr lang="en-US"/>
            </a:br>
            <a:r>
              <a:rPr lang="en-US"/>
              <a:t>could shoutout ariana’a phys paper here</a:t>
            </a:r>
            <a:endParaRPr/>
          </a:p>
        </p:txBody>
      </p:sp>
      <p:sp>
        <p:nvSpPr>
          <p:cNvPr id="730" name="Google Shape;730;g7885acf1488155b2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e88352366c_0_1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g3e88352366c_0_1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could briefly mention that we have phys+symbiont data during </a:t>
            </a:r>
            <a:r>
              <a:rPr lang="en-US"/>
              <a:t>initial</a:t>
            </a:r>
            <a:r>
              <a:rPr lang="en-US"/>
              <a:t> sampling slides, so people aren’t surprised/suspicious</a:t>
            </a:r>
            <a:br>
              <a:rPr lang="en-US"/>
            </a:br>
            <a:br>
              <a:rPr lang="en-US"/>
            </a:br>
            <a:r>
              <a:rPr lang="en-US"/>
              <a:t>more detaili on how of these nxt steps</a:t>
            </a:r>
            <a:br>
              <a:rPr lang="en-US"/>
            </a:br>
            <a:br>
              <a:rPr lang="en-US"/>
            </a:br>
            <a:r>
              <a:rPr lang="en-US"/>
              <a:t>could shoutout ariana’a phys paper here</a:t>
            </a:r>
            <a:endParaRPr/>
          </a:p>
        </p:txBody>
      </p:sp>
      <p:sp>
        <p:nvSpPr>
          <p:cNvPr id="751" name="Google Shape;751;g3e88352366c_0_1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e88352366c_0_635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e88352366c_0_635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Please check out two data explorers we’ve recently released to explore these findings in more depth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CENE: Network explorer for limited set (epi-miRNAs, ceRNAs)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MOSAIC: data explorer, includes full timeseries dataset of both molecular features, as well as host and symbiont phys metrics and symbiont composition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Shoutout Jill’s talk tomorrow morning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576d84eb9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f576d84eb9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domain, but predictability is significantly enriched in growth and respiration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sure to clearly explain the enriched result (significance is from comparison to randomly selected background, use bars to show pairwise comparison) and that ech point is a gene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could use more clear hypothesis-driven throughline for *why* looking at performance across domains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795" name="Google Shape;795;g3f576d84eb9_0_2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f576d84eb9_0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f576d84eb9_0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domain, but predictability is significantly enriched in growth and respiration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sure to clearly explain the enriched result (significance is from comparison to randomly selected background, use bars to show pairwise comparison) and that ech point is a gene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could use more clear hypothesis-driven throughline for *why* looking at performance across domains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806" name="Google Shape;806;g3f576d84eb9_0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f576d84eb9_0_2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3f576d84eb9_0_2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domain, but predictability is significantly enriched in growth and respiration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sure to clearly explain the enriched result (significance is from comparison to randomly selected background, use bars to show pairwise comparison) and that ech point is a gene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could use more clear hypothesis-driven throughline for *why* looking at performance across domains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822" name="Google Shape;822;g3f576d84eb9_0_2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f576d84eb9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3f576d84eb9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epigenetic context predicts expression for a subset of genes in every domain, but predictability is significantly enriched in growth and respiration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sure to clearly explain the enriched result (significance is from comparison to randomly selected background, use bars to show pairwise comparison) and that ech point is a gene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could use more clear hypothesis-driven throughline for *why* looking at performance across domains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830" name="Google Shape;830;g3f576d84eb9_0_2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6" name="Google Shape;8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e88352366c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3e88352366c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Elastic net combines the strengths of both penalties:</a:t>
            </a:r>
            <a:br>
              <a:rPr lang="en-US"/>
            </a:br>
            <a:br>
              <a:rPr lang="en-US"/>
            </a:br>
            <a:r>
              <a:rPr lang="en-US">
                <a:solidFill>
                  <a:srgbClr val="5D7378"/>
                </a:solidFill>
              </a:rPr>
              <a:t>Sparse, stable under high multicollinearity, and assumption-light</a:t>
            </a:r>
            <a:endParaRPr>
              <a:solidFill>
                <a:srgbClr val="5D7378"/>
              </a:solidFill>
            </a:endParaRPr>
          </a:p>
        </p:txBody>
      </p:sp>
      <p:sp>
        <p:nvSpPr>
          <p:cNvPr id="871" name="Google Shape;871;g3e88352366c_0_4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e88352366c_0_517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e88352366c_0_517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critical question is whether the model is capturing real biological signal or just fitting noise.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test this, ran same pipeline using randomized predictor data — we shuffled the values within each predictor column to break any real associations with gene expression, while preserving the distributional properties of each feature.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Two plots. Predicted genes are along x-axis, R^2 (measure of model performance) on the y. Blue line indicates R^2 = 0.5.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On the left, model performance with real data. many genes are well-predicted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On the right, the noise data — the model essentially produces near-zero R-squared values across almost all genes.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Confirms the model is detecting genuine predictive structure in the real epigenetic data, not just capitalizing on the high-dimensional input.</a:t>
            </a:r>
            <a:br>
              <a:rPr lang="en-US"/>
            </a:b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e88352366c_0_450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3e88352366c_0_450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g3e88352366c_0_450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e88352366c_0_48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0" name="Google Shape;920;g3e88352366c_0_48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g3e88352366c_0_48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88352366c_0_462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4" name="Google Shape;934;g3e88352366c_0_462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88352366c_0_462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e88352366c_0_6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g3e88352366c_0_6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g3e88352366c_0_6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5" name="Google Shape;102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 pink? figure out what to say about miRNA</a:t>
            </a:r>
            <a:endParaRPr/>
          </a:p>
        </p:txBody>
      </p:sp>
      <p:sp>
        <p:nvSpPr>
          <p:cNvPr id="1026" name="Google Shape;102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e88352366c_0_8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6" name="Google Shape;1036;g3e88352366c_0_8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fix pink? figure out what to say about miRNA</a:t>
            </a:r>
            <a:endParaRPr/>
          </a:p>
        </p:txBody>
      </p:sp>
      <p:sp>
        <p:nvSpPr>
          <p:cNvPr id="1037" name="Google Shape;1037;g3e88352366c_0_8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e88352366c_0_2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g3e88352366c_0_2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 to the question of whether layers interact: YES!</a:t>
            </a:r>
            <a:endParaRPr/>
          </a:p>
        </p:txBody>
      </p:sp>
      <p:sp>
        <p:nvSpPr>
          <p:cNvPr id="1053" name="Google Shape;1053;g3e88352366c_0_2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f512b3e00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g3f512b3e00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g3f512b3e00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15589" y="2867800"/>
            <a:ext cx="113604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15589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6443028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15589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15589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53649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6095838" y="-167"/>
            <a:ext cx="60957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2"/>
          <p:cNvSpPr txBox="1"/>
          <p:nvPr>
            <p:ph type="title"/>
          </p:nvPr>
        </p:nvSpPr>
        <p:spPr>
          <a:xfrm>
            <a:off x="353991" y="1644233"/>
            <a:ext cx="53934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353991" y="3737433"/>
            <a:ext cx="53934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2"/>
          <p:cNvSpPr txBox="1"/>
          <p:nvPr>
            <p:ph idx="2" type="body"/>
          </p:nvPr>
        </p:nvSpPr>
        <p:spPr>
          <a:xfrm>
            <a:off x="6585824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15589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hasCustomPrompt="1" type="title"/>
          </p:nvPr>
        </p:nvSpPr>
        <p:spPr>
          <a:xfrm>
            <a:off x="415589" y="1474833"/>
            <a:ext cx="113604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15589" y="4202967"/>
            <a:ext cx="113604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08741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15.jp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15.jp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9.jpg"/><Relationship Id="rId5" Type="http://schemas.openxmlformats.org/officeDocument/2006/relationships/image" Target="../media/image15.jp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11" Type="http://schemas.openxmlformats.org/officeDocument/2006/relationships/image" Target="../media/image26.png"/><Relationship Id="rId10" Type="http://schemas.openxmlformats.org/officeDocument/2006/relationships/image" Target="../media/image19.png"/><Relationship Id="rId9" Type="http://schemas.openxmlformats.org/officeDocument/2006/relationships/image" Target="../media/image28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30.png"/><Relationship Id="rId8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3.png"/><Relationship Id="rId4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8.png"/><Relationship Id="rId4" Type="http://schemas.openxmlformats.org/officeDocument/2006/relationships/image" Target="../media/image3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Relationship Id="rId4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Relationship Id="rId4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E29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822960" y="173736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Georgia"/>
              <a:buNone/>
            </a:pPr>
            <a:r>
              <a:rPr b="1" lang="en-US" sz="4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Integrated Coral Epigenetic Regulation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16"/>
          <p:cNvCxnSpPr/>
          <p:nvPr/>
        </p:nvCxnSpPr>
        <p:spPr>
          <a:xfrm>
            <a:off x="868680" y="4407408"/>
            <a:ext cx="3108960" cy="0"/>
          </a:xfrm>
          <a:prstGeom prst="straightConnector1">
            <a:avLst/>
          </a:prstGeom>
          <a:noFill/>
          <a:ln cap="flat" cmpd="sng" w="31750">
            <a:solidFill>
              <a:srgbClr val="0A95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/>
          <p:nvPr/>
        </p:nvSpPr>
        <p:spPr>
          <a:xfrm>
            <a:off x="868680" y="45720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Kathleen Durkin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CB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9BCBC"/>
                </a:solidFill>
                <a:latin typeface="Calibri"/>
                <a:ea typeface="Calibri"/>
                <a:cs typeface="Calibri"/>
                <a:sym typeface="Calibri"/>
              </a:rPr>
              <a:t>Roberts Lab · School of Aquatic &amp; Fishery Sciences, University of Washington</a:t>
            </a:r>
            <a:endParaRPr b="0" i="0" sz="1350" u="none" cap="none" strike="noStrike">
              <a:solidFill>
                <a:srgbClr val="A9BCB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BCBC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A9BCBC"/>
                </a:solidFill>
                <a:latin typeface="Calibri"/>
                <a:ea typeface="Calibri"/>
                <a:cs typeface="Calibri"/>
                <a:sym typeface="Calibri"/>
              </a:rPr>
              <a:t>E5 Coral working group</a:t>
            </a:r>
            <a:endParaRPr sz="1350">
              <a:solidFill>
                <a:srgbClr val="A9BCB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6" name="Google Shape;76;p17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/>
          <p:nvPr/>
        </p:nvSpPr>
        <p:spPr>
          <a:xfrm>
            <a:off x="876300" y="952500"/>
            <a:ext cx="5588100" cy="184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1143000" y="3695700"/>
            <a:ext cx="3098700" cy="302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4699000" y="3683000"/>
            <a:ext cx="1981200" cy="15876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4089400" y="5334000"/>
            <a:ext cx="3174900" cy="13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6896100" y="3886200"/>
            <a:ext cx="1028700" cy="193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p18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/>
          <p:nvPr/>
        </p:nvSpPr>
        <p:spPr>
          <a:xfrm>
            <a:off x="1143000" y="3695700"/>
            <a:ext cx="3098700" cy="302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/>
          <p:nvPr/>
        </p:nvSpPr>
        <p:spPr>
          <a:xfrm>
            <a:off x="4699000" y="3683000"/>
            <a:ext cx="1981200" cy="15876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/>
          <p:nvPr/>
        </p:nvSpPr>
        <p:spPr>
          <a:xfrm>
            <a:off x="4089400" y="5334000"/>
            <a:ext cx="3174900" cy="13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6896100" y="3886200"/>
            <a:ext cx="1028700" cy="193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9" name="Google Shape;99;p19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9"/>
          <p:cNvSpPr/>
          <p:nvPr/>
        </p:nvSpPr>
        <p:spPr>
          <a:xfrm>
            <a:off x="1143000" y="3695700"/>
            <a:ext cx="3098700" cy="302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4089400" y="5334000"/>
            <a:ext cx="3174900" cy="13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6896100" y="3886200"/>
            <a:ext cx="1028700" cy="193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9" name="Google Shape;109;p20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7165760" y="1627783"/>
            <a:ext cx="4611600" cy="98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661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1495" y="1635283"/>
            <a:ext cx="518025" cy="5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7878950" y="1635275"/>
            <a:ext cx="431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environmentally responsive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associated with physiological shifts</a:t>
            </a:r>
            <a:endParaRPr sz="15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7340" y="2097683"/>
            <a:ext cx="561600" cy="5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 title="Epigenetic interactions.png"/>
          <p:cNvPicPr preferRelativeResize="0"/>
          <p:nvPr/>
        </p:nvPicPr>
        <p:blipFill rotWithShape="1">
          <a:blip r:embed="rId3">
            <a:alphaModFix/>
          </a:blip>
          <a:srcRect b="7693" l="8380" r="4512" t="25582"/>
          <a:stretch/>
        </p:blipFill>
        <p:spPr>
          <a:xfrm>
            <a:off x="414338" y="763500"/>
            <a:ext cx="11363011" cy="609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>
            <p:ph type="title"/>
          </p:nvPr>
        </p:nvSpPr>
        <p:spPr>
          <a:xfrm>
            <a:off x="-11" y="-8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Expression is shaped by a complex epigenome</a:t>
            </a:r>
            <a:endParaRPr b="1" sz="26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7165760" y="1627783"/>
            <a:ext cx="4611600" cy="98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661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675" y="589341"/>
            <a:ext cx="882600" cy="8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8162275" y="589340"/>
            <a:ext cx="36327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Layers can also interact!</a:t>
            </a:r>
            <a:endParaRPr b="1" sz="2200"/>
          </a:p>
        </p:txBody>
      </p:sp>
      <p:sp>
        <p:nvSpPr>
          <p:cNvPr id="131" name="Google Shape;131;p22"/>
          <p:cNvSpPr/>
          <p:nvPr/>
        </p:nvSpPr>
        <p:spPr>
          <a:xfrm>
            <a:off x="7148110" y="536680"/>
            <a:ext cx="4611600" cy="98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1495" y="1635283"/>
            <a:ext cx="518025" cy="5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7878950" y="1635275"/>
            <a:ext cx="4312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environmentally responsive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associated with physiological shifts</a:t>
            </a:r>
            <a:endParaRPr sz="1500"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7340" y="2097683"/>
            <a:ext cx="561600" cy="5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</a:t>
            </a: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8791645" y="1171154"/>
            <a:ext cx="322500" cy="3348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47" name="Google Shape;147;p24" title="Moorea_vue_par_Sentinel_2_(cropped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154" y="331656"/>
            <a:ext cx="6302970" cy="6291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25"/>
          <p:cNvGrpSpPr/>
          <p:nvPr/>
        </p:nvGrpSpPr>
        <p:grpSpPr>
          <a:xfrm>
            <a:off x="5889208" y="331591"/>
            <a:ext cx="6303008" cy="6291286"/>
            <a:chOff x="5290600" y="1963550"/>
            <a:chExt cx="3853401" cy="3285439"/>
          </a:xfrm>
        </p:grpSpPr>
        <p:pic>
          <p:nvPicPr>
            <p:cNvPr id="153" name="Google Shape;153;p25" title="Moorea_vue_par_Sentinel_2_(cropped)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0600" y="1963550"/>
              <a:ext cx="3853401" cy="328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25"/>
            <p:cNvSpPr/>
            <p:nvPr/>
          </p:nvSpPr>
          <p:spPr>
            <a:xfrm>
              <a:off x="6196505" y="2469711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7742175" y="2294825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156" name="Google Shape;156;p25"/>
          <p:cNvPicPr preferRelativeResize="0"/>
          <p:nvPr/>
        </p:nvPicPr>
        <p:blipFill rotWithShape="1">
          <a:blip r:embed="rId4">
            <a:alphaModFix/>
          </a:blip>
          <a:srcRect b="0" l="0" r="0" t="64801"/>
          <a:stretch/>
        </p:blipFill>
        <p:spPr>
          <a:xfrm>
            <a:off x="213240" y="4260180"/>
            <a:ext cx="11765219" cy="2362700"/>
          </a:xfrm>
          <a:prstGeom prst="rect">
            <a:avLst/>
          </a:prstGeom>
          <a:noFill/>
          <a:ln cap="flat" cmpd="sng" w="38100">
            <a:solidFill>
              <a:srgbClr val="FFAB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57" name="Google Shape;157;p25"/>
          <p:cNvCxnSpPr>
            <a:stCxn id="154" idx="2"/>
            <a:endCxn id="156" idx="0"/>
          </p:cNvCxnSpPr>
          <p:nvPr/>
        </p:nvCxnSpPr>
        <p:spPr>
          <a:xfrm flipH="1">
            <a:off x="6095769" y="1635753"/>
            <a:ext cx="1336800" cy="26244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5"/>
          <p:cNvCxnSpPr>
            <a:stCxn id="155" idx="2"/>
            <a:endCxn id="156" idx="0"/>
          </p:cNvCxnSpPr>
          <p:nvPr/>
        </p:nvCxnSpPr>
        <p:spPr>
          <a:xfrm flipH="1">
            <a:off x="6095922" y="1300864"/>
            <a:ext cx="3864900" cy="29592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5"/>
          <p:cNvSpPr txBox="1"/>
          <p:nvPr/>
        </p:nvSpPr>
        <p:spPr>
          <a:xfrm>
            <a:off x="2303721" y="6246625"/>
            <a:ext cx="17466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Acropora pulchra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60" name="Google Shape;160;p25"/>
          <p:cNvSpPr txBox="1"/>
          <p:nvPr/>
        </p:nvSpPr>
        <p:spPr>
          <a:xfrm>
            <a:off x="5604825" y="6246625"/>
            <a:ext cx="23730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Pocillopora tuahiniensis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61" name="Google Shape;161;p25"/>
          <p:cNvSpPr txBox="1"/>
          <p:nvPr/>
        </p:nvSpPr>
        <p:spPr>
          <a:xfrm>
            <a:off x="10023350" y="6246625"/>
            <a:ext cx="18495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Porites evermanni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68" name="Google Shape;168;p26"/>
          <p:cNvGrpSpPr/>
          <p:nvPr/>
        </p:nvGrpSpPr>
        <p:grpSpPr>
          <a:xfrm>
            <a:off x="5889208" y="331591"/>
            <a:ext cx="6303008" cy="6291286"/>
            <a:chOff x="5290600" y="1963550"/>
            <a:chExt cx="3853401" cy="3285439"/>
          </a:xfrm>
        </p:grpSpPr>
        <p:pic>
          <p:nvPicPr>
            <p:cNvPr id="169" name="Google Shape;169;p26" title="Moorea_vue_par_Sentinel_2_(cropped)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0600" y="1963550"/>
              <a:ext cx="3853401" cy="328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6"/>
            <p:cNvSpPr/>
            <p:nvPr/>
          </p:nvSpPr>
          <p:spPr>
            <a:xfrm>
              <a:off x="6196505" y="2469711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7742175" y="2294825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172" name="Google Shape;172;p26"/>
          <p:cNvPicPr preferRelativeResize="0"/>
          <p:nvPr/>
        </p:nvPicPr>
        <p:blipFill rotWithShape="1">
          <a:blip r:embed="rId4">
            <a:alphaModFix/>
          </a:blip>
          <a:srcRect b="0" l="0" r="0" t="64801"/>
          <a:stretch/>
        </p:blipFill>
        <p:spPr>
          <a:xfrm>
            <a:off x="213240" y="4260180"/>
            <a:ext cx="11765219" cy="2362700"/>
          </a:xfrm>
          <a:prstGeom prst="rect">
            <a:avLst/>
          </a:prstGeom>
          <a:noFill/>
          <a:ln cap="flat" cmpd="sng" w="38100">
            <a:solidFill>
              <a:srgbClr val="FFAB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73" name="Google Shape;173;p26"/>
          <p:cNvCxnSpPr>
            <a:stCxn id="170" idx="2"/>
            <a:endCxn id="172" idx="0"/>
          </p:cNvCxnSpPr>
          <p:nvPr/>
        </p:nvCxnSpPr>
        <p:spPr>
          <a:xfrm flipH="1">
            <a:off x="6095769" y="1635753"/>
            <a:ext cx="1336800" cy="26244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6"/>
          <p:cNvCxnSpPr>
            <a:stCxn id="171" idx="2"/>
            <a:endCxn id="172" idx="0"/>
          </p:cNvCxnSpPr>
          <p:nvPr/>
        </p:nvCxnSpPr>
        <p:spPr>
          <a:xfrm flipH="1">
            <a:off x="6095922" y="1300864"/>
            <a:ext cx="3864900" cy="29592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5" name="Google Shape;17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6400" y="26016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6"/>
          <p:cNvSpPr txBox="1"/>
          <p:nvPr/>
        </p:nvSpPr>
        <p:spPr>
          <a:xfrm>
            <a:off x="2888425" y="2601650"/>
            <a:ext cx="95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4</a:t>
            </a:r>
            <a:endParaRPr b="1" sz="3500">
              <a:solidFill>
                <a:srgbClr val="FFFFFF"/>
              </a:solidFill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400" y="14695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2888425" y="1469525"/>
            <a:ext cx="1161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10</a:t>
            </a:r>
            <a:endParaRPr b="1" sz="3500">
              <a:solidFill>
                <a:srgbClr val="FFFFFF"/>
              </a:solidFill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303721" y="6246625"/>
            <a:ext cx="17466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Acropora pulchra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5604825" y="6246625"/>
            <a:ext cx="23730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Pocillopora tuahiniensis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10023350" y="6246625"/>
            <a:ext cx="18495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Porites evermanni</a:t>
            </a:r>
            <a:endParaRPr i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87" name="Google Shape;187;p27"/>
          <p:cNvGrpSpPr/>
          <p:nvPr/>
        </p:nvGrpSpPr>
        <p:grpSpPr>
          <a:xfrm>
            <a:off x="5889208" y="331591"/>
            <a:ext cx="6303008" cy="6291286"/>
            <a:chOff x="5290600" y="1963550"/>
            <a:chExt cx="3853401" cy="3285439"/>
          </a:xfrm>
        </p:grpSpPr>
        <p:pic>
          <p:nvPicPr>
            <p:cNvPr id="188" name="Google Shape;188;p27" title="Moorea_vue_par_Sentinel_2_(cropped)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0600" y="1963550"/>
              <a:ext cx="3853401" cy="328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27"/>
            <p:cNvSpPr/>
            <p:nvPr/>
          </p:nvSpPr>
          <p:spPr>
            <a:xfrm>
              <a:off x="6196505" y="2469711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7742175" y="2294825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0" t="64801"/>
          <a:stretch/>
        </p:blipFill>
        <p:spPr>
          <a:xfrm>
            <a:off x="213240" y="4260180"/>
            <a:ext cx="11765219" cy="2362700"/>
          </a:xfrm>
          <a:prstGeom prst="rect">
            <a:avLst/>
          </a:prstGeom>
          <a:noFill/>
          <a:ln cap="flat" cmpd="sng" w="38100">
            <a:solidFill>
              <a:srgbClr val="FFAB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92" name="Google Shape;192;p27"/>
          <p:cNvCxnSpPr>
            <a:stCxn id="189" idx="2"/>
            <a:endCxn id="191" idx="0"/>
          </p:cNvCxnSpPr>
          <p:nvPr/>
        </p:nvCxnSpPr>
        <p:spPr>
          <a:xfrm flipH="1">
            <a:off x="6095769" y="1635753"/>
            <a:ext cx="1336800" cy="26244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7"/>
          <p:cNvCxnSpPr>
            <a:stCxn id="190" idx="2"/>
            <a:endCxn id="191" idx="0"/>
          </p:cNvCxnSpPr>
          <p:nvPr/>
        </p:nvCxnSpPr>
        <p:spPr>
          <a:xfrm flipH="1">
            <a:off x="6095922" y="1300864"/>
            <a:ext cx="3864900" cy="29592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7"/>
          <p:cNvSpPr txBox="1"/>
          <p:nvPr/>
        </p:nvSpPr>
        <p:spPr>
          <a:xfrm>
            <a:off x="2303721" y="6246625"/>
            <a:ext cx="17466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Acropora pulchra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5604825" y="6246625"/>
            <a:ext cx="23730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Pocillopora tuahiniensis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10023350" y="6246625"/>
            <a:ext cx="18495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Porites evermanni</a:t>
            </a:r>
            <a:endParaRPr i="1" sz="1600">
              <a:solidFill>
                <a:schemeClr val="lt1"/>
              </a:solidFill>
            </a:endParaRPr>
          </a:p>
        </p:txBody>
      </p:sp>
      <p:pic>
        <p:nvPicPr>
          <p:cNvPr id="197" name="Google Shape;197;p27"/>
          <p:cNvPicPr preferRelativeResize="0"/>
          <p:nvPr/>
        </p:nvPicPr>
        <p:blipFill rotWithShape="1">
          <a:blip r:embed="rId5">
            <a:alphaModFix/>
          </a:blip>
          <a:srcRect b="47732" l="0" r="0" t="0"/>
          <a:stretch/>
        </p:blipFill>
        <p:spPr>
          <a:xfrm>
            <a:off x="5208376" y="856225"/>
            <a:ext cx="6735649" cy="3277925"/>
          </a:xfrm>
          <a:prstGeom prst="rect">
            <a:avLst/>
          </a:prstGeom>
          <a:noFill/>
          <a:ln cap="flat" cmpd="sng" w="37075">
            <a:solidFill>
              <a:srgbClr val="44868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400" y="26016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2888425" y="2601650"/>
            <a:ext cx="95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4</a:t>
            </a:r>
            <a:endParaRPr b="1" sz="3500">
              <a:solidFill>
                <a:srgbClr val="FFFFFF"/>
              </a:solidFill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400" y="14695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 txBox="1"/>
          <p:nvPr/>
        </p:nvSpPr>
        <p:spPr>
          <a:xfrm>
            <a:off x="2888425" y="1469525"/>
            <a:ext cx="1161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10</a:t>
            </a:r>
            <a:endParaRPr b="1" sz="3500">
              <a:solidFill>
                <a:srgbClr val="FFFFFF"/>
              </a:solidFill>
            </a:endParaRPr>
          </a:p>
        </p:txBody>
      </p:sp>
      <p:sp>
        <p:nvSpPr>
          <p:cNvPr id="202" name="Google Shape;202;p27"/>
          <p:cNvSpPr/>
          <p:nvPr/>
        </p:nvSpPr>
        <p:spPr>
          <a:xfrm>
            <a:off x="7953375" y="2250275"/>
            <a:ext cx="7143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" name="Google Shape;203;p27"/>
          <p:cNvCxnSpPr>
            <a:stCxn id="199" idx="3"/>
            <a:endCxn id="197" idx="1"/>
          </p:cNvCxnSpPr>
          <p:nvPr/>
        </p:nvCxnSpPr>
        <p:spPr>
          <a:xfrm flipH="1" rot="10800000">
            <a:off x="3840925" y="2495300"/>
            <a:ext cx="1367400" cy="582600"/>
          </a:xfrm>
          <a:prstGeom prst="straightConnector1">
            <a:avLst/>
          </a:prstGeom>
          <a:noFill/>
          <a:ln cap="flat" cmpd="sng" w="38100">
            <a:solidFill>
              <a:srgbClr val="44868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209" name="Google Shape;209;p28"/>
          <p:cNvGrpSpPr/>
          <p:nvPr/>
        </p:nvGrpSpPr>
        <p:grpSpPr>
          <a:xfrm>
            <a:off x="5889208" y="331591"/>
            <a:ext cx="6303008" cy="6291286"/>
            <a:chOff x="5290600" y="1963550"/>
            <a:chExt cx="3853401" cy="3285439"/>
          </a:xfrm>
        </p:grpSpPr>
        <p:pic>
          <p:nvPicPr>
            <p:cNvPr id="210" name="Google Shape;210;p28" title="Moorea_vue_par_Sentinel_2_(cropped)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0600" y="1963550"/>
              <a:ext cx="3853401" cy="328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" name="Google Shape;211;p28"/>
            <p:cNvSpPr/>
            <p:nvPr/>
          </p:nvSpPr>
          <p:spPr>
            <a:xfrm>
              <a:off x="6196505" y="2469711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12" name="Google Shape;212;p28"/>
            <p:cNvSpPr/>
            <p:nvPr/>
          </p:nvSpPr>
          <p:spPr>
            <a:xfrm>
              <a:off x="7742175" y="2294825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213" name="Google Shape;213;p28"/>
          <p:cNvPicPr preferRelativeResize="0"/>
          <p:nvPr/>
        </p:nvPicPr>
        <p:blipFill rotWithShape="1">
          <a:blip r:embed="rId4">
            <a:alphaModFix/>
          </a:blip>
          <a:srcRect b="0" l="0" r="0" t="64801"/>
          <a:stretch/>
        </p:blipFill>
        <p:spPr>
          <a:xfrm>
            <a:off x="213240" y="4260180"/>
            <a:ext cx="11765219" cy="2362700"/>
          </a:xfrm>
          <a:prstGeom prst="rect">
            <a:avLst/>
          </a:prstGeom>
          <a:noFill/>
          <a:ln cap="flat" cmpd="sng" w="38100">
            <a:solidFill>
              <a:srgbClr val="FFAB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4" name="Google Shape;214;p28"/>
          <p:cNvCxnSpPr>
            <a:stCxn id="211" idx="2"/>
            <a:endCxn id="213" idx="0"/>
          </p:cNvCxnSpPr>
          <p:nvPr/>
        </p:nvCxnSpPr>
        <p:spPr>
          <a:xfrm flipH="1">
            <a:off x="6095769" y="1635753"/>
            <a:ext cx="1336800" cy="26244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8"/>
          <p:cNvCxnSpPr>
            <a:stCxn id="212" idx="2"/>
            <a:endCxn id="213" idx="0"/>
          </p:cNvCxnSpPr>
          <p:nvPr/>
        </p:nvCxnSpPr>
        <p:spPr>
          <a:xfrm flipH="1">
            <a:off x="6095922" y="1300864"/>
            <a:ext cx="3864900" cy="29592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8"/>
          <p:cNvSpPr txBox="1"/>
          <p:nvPr/>
        </p:nvSpPr>
        <p:spPr>
          <a:xfrm>
            <a:off x="2303721" y="6246625"/>
            <a:ext cx="17466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Acropora pulchra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5604825" y="6246625"/>
            <a:ext cx="23730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Pocillopora tuahiniensis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10023350" y="6246625"/>
            <a:ext cx="18495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Porites evermanni</a:t>
            </a:r>
            <a:endParaRPr i="1" sz="1600">
              <a:solidFill>
                <a:schemeClr val="lt1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5">
            <a:alphaModFix/>
          </a:blip>
          <a:srcRect b="47732" l="0" r="0" t="0"/>
          <a:stretch/>
        </p:blipFill>
        <p:spPr>
          <a:xfrm>
            <a:off x="5208376" y="856225"/>
            <a:ext cx="6735649" cy="3277925"/>
          </a:xfrm>
          <a:prstGeom prst="rect">
            <a:avLst/>
          </a:prstGeom>
          <a:noFill/>
          <a:ln cap="flat" cmpd="sng" w="37075">
            <a:solidFill>
              <a:srgbClr val="44868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400" y="26016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2888425" y="2601650"/>
            <a:ext cx="95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4</a:t>
            </a:r>
            <a:endParaRPr b="1" sz="3500">
              <a:solidFill>
                <a:srgbClr val="FFFFFF"/>
              </a:solidFill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400" y="14695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2888425" y="1469525"/>
            <a:ext cx="1161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10</a:t>
            </a:r>
            <a:endParaRPr b="1" sz="3500">
              <a:solidFill>
                <a:srgbClr val="FFFFFF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7953375" y="2250275"/>
            <a:ext cx="7143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5" name="Google Shape;225;p28"/>
          <p:cNvCxnSpPr>
            <a:stCxn id="221" idx="3"/>
            <a:endCxn id="219" idx="1"/>
          </p:cNvCxnSpPr>
          <p:nvPr/>
        </p:nvCxnSpPr>
        <p:spPr>
          <a:xfrm flipH="1" rot="10800000">
            <a:off x="3840925" y="2495300"/>
            <a:ext cx="1367400" cy="582600"/>
          </a:xfrm>
          <a:prstGeom prst="straightConnector1">
            <a:avLst/>
          </a:prstGeom>
          <a:noFill/>
          <a:ln cap="flat" cmpd="sng" w="38100">
            <a:solidFill>
              <a:srgbClr val="44868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8"/>
          <p:cNvSpPr/>
          <p:nvPr/>
        </p:nvSpPr>
        <p:spPr>
          <a:xfrm>
            <a:off x="7657774" y="1109072"/>
            <a:ext cx="393600" cy="2362200"/>
          </a:xfrm>
          <a:prstGeom prst="rect">
            <a:avLst/>
          </a:prstGeom>
          <a:solidFill>
            <a:srgbClr val="FFE599">
              <a:alpha val="5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227" name="Google Shape;227;p28"/>
          <p:cNvSpPr txBox="1"/>
          <p:nvPr/>
        </p:nvSpPr>
        <p:spPr>
          <a:xfrm>
            <a:off x="5159650" y="507773"/>
            <a:ext cx="6784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E599"/>
                </a:solidFill>
              </a:rPr>
              <a:t>*Interaction analyses used reduced dataset (single timepoint, n≈5/species)</a:t>
            </a:r>
            <a:endParaRPr sz="1500">
              <a:solidFill>
                <a:srgbClr val="FFE59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9" title="Epigenetic interactions.png"/>
          <p:cNvPicPr preferRelativeResize="0"/>
          <p:nvPr/>
        </p:nvPicPr>
        <p:blipFill rotWithShape="1">
          <a:blip r:embed="rId3">
            <a:alphaModFix/>
          </a:blip>
          <a:srcRect b="13255" l="33827" r="55756" t="77985"/>
          <a:stretch/>
        </p:blipFill>
        <p:spPr>
          <a:xfrm>
            <a:off x="9848900" y="1655075"/>
            <a:ext cx="1462052" cy="8608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29"/>
          <p:cNvCxnSpPr/>
          <p:nvPr/>
        </p:nvCxnSpPr>
        <p:spPr>
          <a:xfrm>
            <a:off x="3492223" y="5241018"/>
            <a:ext cx="8395500" cy="20400"/>
          </a:xfrm>
          <a:prstGeom prst="straightConnector1">
            <a:avLst/>
          </a:prstGeom>
          <a:noFill/>
          <a:ln cap="flat" cmpd="sng" w="508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29"/>
          <p:cNvSpPr txBox="1"/>
          <p:nvPr/>
        </p:nvSpPr>
        <p:spPr>
          <a:xfrm>
            <a:off x="4748989" y="5274441"/>
            <a:ext cx="588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Epigenetic features</a:t>
            </a:r>
            <a:endParaRPr sz="2400">
              <a:solidFill>
                <a:schemeClr val="dk2"/>
              </a:solidFill>
            </a:endParaRPr>
          </a:p>
        </p:txBody>
      </p:sp>
      <p:grpSp>
        <p:nvGrpSpPr>
          <p:cNvPr id="235" name="Google Shape;235;p29"/>
          <p:cNvGrpSpPr/>
          <p:nvPr/>
        </p:nvGrpSpPr>
        <p:grpSpPr>
          <a:xfrm>
            <a:off x="287342" y="967950"/>
            <a:ext cx="2698733" cy="3935898"/>
            <a:chOff x="238125" y="1107590"/>
            <a:chExt cx="2024100" cy="2951997"/>
          </a:xfrm>
        </p:grpSpPr>
        <p:pic>
          <p:nvPicPr>
            <p:cNvPr id="236" name="Google Shape;236;p29" title="Screenshot 2026-03-31 at 11.51.36 PM.png"/>
            <p:cNvPicPr preferRelativeResize="0"/>
            <p:nvPr/>
          </p:nvPicPr>
          <p:blipFill rotWithShape="1">
            <a:blip r:embed="rId4">
              <a:alphaModFix/>
            </a:blip>
            <a:srcRect b="0" l="10266" r="0" t="0"/>
            <a:stretch/>
          </p:blipFill>
          <p:spPr>
            <a:xfrm rot="1452093">
              <a:off x="872684" y="1572896"/>
              <a:ext cx="765730" cy="8959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7" name="Google Shape;237;p29"/>
            <p:cNvSpPr/>
            <p:nvPr/>
          </p:nvSpPr>
          <p:spPr>
            <a:xfrm>
              <a:off x="238125" y="1115087"/>
              <a:ext cx="2024100" cy="2944500"/>
            </a:xfrm>
            <a:prstGeom prst="roundRect">
              <a:avLst>
                <a:gd fmla="val 5316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638625" y="1390062"/>
              <a:ext cx="1223100" cy="1217700"/>
            </a:xfrm>
            <a:prstGeom prst="ellipse">
              <a:avLst/>
            </a:prstGeom>
            <a:noFill/>
            <a:ln cap="flat" cmpd="sng" w="50800">
              <a:solidFill>
                <a:srgbClr val="CC79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39" name="Google Shape;239;p29"/>
            <p:cNvSpPr txBox="1"/>
            <p:nvPr/>
          </p:nvSpPr>
          <p:spPr>
            <a:xfrm>
              <a:off x="238125" y="2780712"/>
              <a:ext cx="2024100" cy="12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300"/>
                </a:spcAft>
                <a:buNone/>
              </a:pPr>
              <a:r>
                <a:rPr b="1" lang="en-US" sz="2300">
                  <a:solidFill>
                    <a:schemeClr val="dk2"/>
                  </a:solidFill>
                </a:rPr>
                <a:t>Gene expression</a:t>
              </a:r>
              <a:endParaRPr sz="2000">
                <a:solidFill>
                  <a:schemeClr val="dk2"/>
                </a:solidFill>
              </a:endParaRPr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238125" y="1107590"/>
              <a:ext cx="2024100" cy="199200"/>
            </a:xfrm>
            <a:prstGeom prst="roundRect">
              <a:avLst>
                <a:gd fmla="val 16667" name="adj"/>
              </a:avLst>
            </a:prstGeom>
            <a:solidFill>
              <a:srgbClr val="CC79A7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248100" y="1255990"/>
              <a:ext cx="2004300" cy="11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grpSp>
        <p:nvGrpSpPr>
          <p:cNvPr id="242" name="Google Shape;242;p29"/>
          <p:cNvGrpSpPr/>
          <p:nvPr/>
        </p:nvGrpSpPr>
        <p:grpSpPr>
          <a:xfrm>
            <a:off x="6340557" y="967946"/>
            <a:ext cx="2698733" cy="3925935"/>
            <a:chOff x="4778150" y="1107587"/>
            <a:chExt cx="2024100" cy="2944525"/>
          </a:xfrm>
        </p:grpSpPr>
        <p:sp>
          <p:nvSpPr>
            <p:cNvPr id="243" name="Google Shape;243;p29"/>
            <p:cNvSpPr/>
            <p:nvPr/>
          </p:nvSpPr>
          <p:spPr>
            <a:xfrm>
              <a:off x="5178662" y="1390062"/>
              <a:ext cx="1223100" cy="1217700"/>
            </a:xfrm>
            <a:prstGeom prst="ellipse">
              <a:avLst/>
            </a:prstGeom>
            <a:noFill/>
            <a:ln cap="flat" cmpd="sng" w="50800">
              <a:solidFill>
                <a:srgbClr val="DE8E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4778150" y="1107587"/>
              <a:ext cx="2024100" cy="2944500"/>
            </a:xfrm>
            <a:prstGeom prst="roundRect">
              <a:avLst>
                <a:gd fmla="val 5153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45" name="Google Shape;245;p29"/>
            <p:cNvSpPr txBox="1"/>
            <p:nvPr/>
          </p:nvSpPr>
          <p:spPr>
            <a:xfrm>
              <a:off x="4778150" y="2780712"/>
              <a:ext cx="2024100" cy="12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chemeClr val="dk2"/>
                  </a:solidFill>
                </a:rPr>
                <a:t>miRNA expression</a:t>
              </a:r>
              <a:endParaRPr b="1" sz="21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1300"/>
                </a:spcBef>
                <a:spcAft>
                  <a:spcPts val="1300"/>
                </a:spcAft>
                <a:buNone/>
              </a:pPr>
              <a:r>
                <a:rPr lang="en-US" sz="2000">
                  <a:solidFill>
                    <a:schemeClr val="dk2"/>
                  </a:solidFill>
                </a:rPr>
                <a:t>~22nt molecules, degrade or repress translation of mRNAs</a:t>
              </a:r>
              <a:endParaRPr sz="2000">
                <a:solidFill>
                  <a:schemeClr val="dk2"/>
                </a:solidFill>
              </a:endParaRPr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4778150" y="1107590"/>
              <a:ext cx="2024100" cy="199200"/>
            </a:xfrm>
            <a:prstGeom prst="roundRect">
              <a:avLst>
                <a:gd fmla="val 16667" name="adj"/>
              </a:avLst>
            </a:prstGeom>
            <a:solidFill>
              <a:srgbClr val="DE8E07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4788125" y="1255990"/>
              <a:ext cx="2004300" cy="11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grpSp>
        <p:nvGrpSpPr>
          <p:cNvPr id="248" name="Google Shape;248;p29"/>
          <p:cNvGrpSpPr/>
          <p:nvPr/>
        </p:nvGrpSpPr>
        <p:grpSpPr>
          <a:xfrm>
            <a:off x="3509895" y="977946"/>
            <a:ext cx="2700832" cy="3925902"/>
            <a:chOff x="2655100" y="1115087"/>
            <a:chExt cx="2025675" cy="2944500"/>
          </a:xfrm>
        </p:grpSpPr>
        <p:sp>
          <p:nvSpPr>
            <p:cNvPr id="249" name="Google Shape;249;p29"/>
            <p:cNvSpPr/>
            <p:nvPr/>
          </p:nvSpPr>
          <p:spPr>
            <a:xfrm>
              <a:off x="3046023" y="1390062"/>
              <a:ext cx="1223100" cy="1217700"/>
            </a:xfrm>
            <a:prstGeom prst="ellipse">
              <a:avLst/>
            </a:prstGeom>
            <a:noFill/>
            <a:ln cap="flat" cmpd="sng" w="50800">
              <a:solidFill>
                <a:srgbClr val="138F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2656675" y="1115087"/>
              <a:ext cx="2024100" cy="2944500"/>
            </a:xfrm>
            <a:prstGeom prst="roundRect">
              <a:avLst>
                <a:gd fmla="val 5042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3914306" y="2076045"/>
              <a:ext cx="163800" cy="3258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2" name="Google Shape;252;p29"/>
            <p:cNvSpPr txBox="1"/>
            <p:nvPr/>
          </p:nvSpPr>
          <p:spPr>
            <a:xfrm>
              <a:off x="2655100" y="2777362"/>
              <a:ext cx="2024100" cy="12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chemeClr val="dk2"/>
                  </a:solidFill>
                </a:rPr>
                <a:t>DNA methylation</a:t>
              </a:r>
              <a:endParaRPr b="1" sz="23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1300"/>
                </a:spcBef>
                <a:spcAft>
                  <a:spcPts val="1300"/>
                </a:spcAft>
                <a:buNone/>
              </a:pPr>
              <a:r>
                <a:rPr lang="en-US" sz="2000">
                  <a:solidFill>
                    <a:schemeClr val="dk2"/>
                  </a:solidFill>
                </a:rPr>
                <a:t>Chemical DNA tags, debated function</a:t>
              </a:r>
              <a:endParaRPr sz="2000"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2656650" y="1115090"/>
              <a:ext cx="2024100" cy="199200"/>
            </a:xfrm>
            <a:prstGeom prst="roundRect">
              <a:avLst>
                <a:gd fmla="val 16667" name="adj"/>
              </a:avLst>
            </a:prstGeom>
            <a:solidFill>
              <a:srgbClr val="138F60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2666625" y="1263490"/>
              <a:ext cx="2004300" cy="11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grpSp>
        <p:nvGrpSpPr>
          <p:cNvPr id="255" name="Google Shape;255;p29"/>
          <p:cNvGrpSpPr/>
          <p:nvPr/>
        </p:nvGrpSpPr>
        <p:grpSpPr>
          <a:xfrm>
            <a:off x="9152387" y="967946"/>
            <a:ext cx="2751931" cy="3925935"/>
            <a:chOff x="6887075" y="1107587"/>
            <a:chExt cx="2064000" cy="2944525"/>
          </a:xfrm>
        </p:grpSpPr>
        <p:sp>
          <p:nvSpPr>
            <p:cNvPr id="256" name="Google Shape;256;p29"/>
            <p:cNvSpPr/>
            <p:nvPr/>
          </p:nvSpPr>
          <p:spPr>
            <a:xfrm>
              <a:off x="7311300" y="1390062"/>
              <a:ext cx="1223100" cy="1217700"/>
            </a:xfrm>
            <a:prstGeom prst="ellipse">
              <a:avLst/>
            </a:prstGeom>
            <a:noFill/>
            <a:ln cap="flat" cmpd="sng" w="50800">
              <a:solidFill>
                <a:srgbClr val="2D69A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6899650" y="1107587"/>
              <a:ext cx="2024100" cy="2944500"/>
            </a:xfrm>
            <a:prstGeom prst="roundRect">
              <a:avLst>
                <a:gd fmla="val 5263" name="adj"/>
              </a:avLst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58" name="Google Shape;258;p29"/>
            <p:cNvSpPr txBox="1"/>
            <p:nvPr/>
          </p:nvSpPr>
          <p:spPr>
            <a:xfrm>
              <a:off x="6887075" y="2780712"/>
              <a:ext cx="2064000" cy="12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chemeClr val="dk2"/>
                  </a:solidFill>
                </a:rPr>
                <a:t>lncRNA expression</a:t>
              </a:r>
              <a:endParaRPr b="1" sz="21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1300"/>
                </a:spcBef>
                <a:spcAft>
                  <a:spcPts val="1300"/>
                </a:spcAft>
                <a:buNone/>
              </a:pPr>
              <a:r>
                <a:rPr lang="en-US" sz="2000">
                  <a:solidFill>
                    <a:schemeClr val="dk2"/>
                  </a:solidFill>
                </a:rPr>
                <a:t>Large molecules, complex roles</a:t>
              </a:r>
              <a:endParaRPr sz="2000"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6899625" y="1107590"/>
              <a:ext cx="2024100" cy="199200"/>
            </a:xfrm>
            <a:prstGeom prst="roundRect">
              <a:avLst>
                <a:gd fmla="val 16667" name="adj"/>
              </a:avLst>
            </a:prstGeom>
            <a:solidFill>
              <a:srgbClr val="0072B2"/>
            </a:solidFill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6909600" y="1257264"/>
              <a:ext cx="2004300" cy="110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261" name="Google Shape;261;p29" title="Epigenetic interactions.png"/>
          <p:cNvPicPr preferRelativeResize="0"/>
          <p:nvPr/>
        </p:nvPicPr>
        <p:blipFill rotWithShape="1">
          <a:blip r:embed="rId3">
            <a:alphaModFix/>
          </a:blip>
          <a:srcRect b="60804" l="28330" r="66559" t="29184"/>
          <a:stretch/>
        </p:blipFill>
        <p:spPr>
          <a:xfrm>
            <a:off x="4420088" y="1573075"/>
            <a:ext cx="880451" cy="12074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9"/>
          <p:cNvSpPr/>
          <p:nvPr/>
        </p:nvSpPr>
        <p:spPr>
          <a:xfrm>
            <a:off x="5138750" y="2259800"/>
            <a:ext cx="2286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9" title="Epigenetic interactions.png"/>
          <p:cNvPicPr preferRelativeResize="0"/>
          <p:nvPr/>
        </p:nvPicPr>
        <p:blipFill rotWithShape="1">
          <a:blip r:embed="rId3">
            <a:alphaModFix/>
          </a:blip>
          <a:srcRect b="28690" l="47163" r="45607" t="67001"/>
          <a:stretch/>
        </p:blipFill>
        <p:spPr>
          <a:xfrm>
            <a:off x="7061313" y="1853500"/>
            <a:ext cx="1257329" cy="52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Epigenome varies by species, potentially </a:t>
            </a:r>
            <a:endParaRPr b="1" sz="28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underpinning differing physiologies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2791555" y="1375851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A. pulchra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0"/>
          <p:cNvSpPr/>
          <p:nvPr/>
        </p:nvSpPr>
        <p:spPr>
          <a:xfrm>
            <a:off x="7421506" y="1375838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P. tuahiniensis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/>
          <p:nvPr/>
        </p:nvSpPr>
        <p:spPr>
          <a:xfrm>
            <a:off x="5106520" y="1375838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P. evermanni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0"/>
          <p:cNvSpPr/>
          <p:nvPr/>
        </p:nvSpPr>
        <p:spPr>
          <a:xfrm>
            <a:off x="369748" y="1808685"/>
            <a:ext cx="2267100" cy="1154100"/>
          </a:xfrm>
          <a:prstGeom prst="rect">
            <a:avLst/>
          </a:prstGeom>
          <a:solidFill>
            <a:srgbClr val="DE8E07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"/>
          <p:cNvSpPr/>
          <p:nvPr/>
        </p:nvSpPr>
        <p:spPr>
          <a:xfrm>
            <a:off x="369799" y="1808675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miRNAs</a:t>
            </a:r>
            <a:endParaRPr b="0" i="0" sz="1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/>
          <p:nvPr/>
        </p:nvSpPr>
        <p:spPr>
          <a:xfrm>
            <a:off x="2791555" y="1808685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/>
          <p:nvPr/>
        </p:nvSpPr>
        <p:spPr>
          <a:xfrm>
            <a:off x="2791555" y="1808685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39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/>
          <p:nvPr/>
        </p:nvSpPr>
        <p:spPr>
          <a:xfrm>
            <a:off x="7421506" y="1808672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7421506" y="1808672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37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0"/>
          <p:cNvSpPr/>
          <p:nvPr/>
        </p:nvSpPr>
        <p:spPr>
          <a:xfrm>
            <a:off x="5106520" y="1808672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0"/>
          <p:cNvSpPr/>
          <p:nvPr/>
        </p:nvSpPr>
        <p:spPr>
          <a:xfrm>
            <a:off x="5106520" y="1808672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45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/>
          <p:nvPr/>
        </p:nvSpPr>
        <p:spPr>
          <a:xfrm>
            <a:off x="9590264" y="1808675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4 conserved </a:t>
            </a: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miRNAs</a:t>
            </a: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0" lang="en-US" sz="13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(miR-100, -2036, -2023, -2025)</a:t>
            </a:r>
            <a:endParaRPr b="0" sz="13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0"/>
          <p:cNvSpPr/>
          <p:nvPr/>
        </p:nvSpPr>
        <p:spPr>
          <a:xfrm>
            <a:off x="369748" y="3127799"/>
            <a:ext cx="2267100" cy="1154100"/>
          </a:xfrm>
          <a:prstGeom prst="rect">
            <a:avLst/>
          </a:prstGeom>
          <a:solidFill>
            <a:srgbClr val="2D69A9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0"/>
          <p:cNvSpPr/>
          <p:nvPr/>
        </p:nvSpPr>
        <p:spPr>
          <a:xfrm>
            <a:off x="369799" y="3127800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lncRNAs</a:t>
            </a:r>
            <a:endParaRPr b="0" i="0" sz="1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2791555" y="3127799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0"/>
          <p:cNvSpPr/>
          <p:nvPr/>
        </p:nvSpPr>
        <p:spPr>
          <a:xfrm>
            <a:off x="2791555" y="3127799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31,491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0"/>
          <p:cNvSpPr/>
          <p:nvPr/>
        </p:nvSpPr>
        <p:spPr>
          <a:xfrm>
            <a:off x="7421506" y="3127787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7421506" y="3127787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16,153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5106520" y="3127787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0"/>
          <p:cNvSpPr/>
          <p:nvPr/>
        </p:nvSpPr>
        <p:spPr>
          <a:xfrm>
            <a:off x="5106520" y="3127787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10,090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9590264" y="3127800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46 </a:t>
            </a: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conserved lncRNA</a:t>
            </a:r>
            <a:endParaRPr b="1" sz="18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0"/>
          <p:cNvSpPr/>
          <p:nvPr/>
        </p:nvSpPr>
        <p:spPr>
          <a:xfrm>
            <a:off x="369748" y="4446913"/>
            <a:ext cx="2267100" cy="1154100"/>
          </a:xfrm>
          <a:prstGeom prst="rect">
            <a:avLst/>
          </a:prstGeom>
          <a:solidFill>
            <a:srgbClr val="138F60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369799" y="4446925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Methylation</a:t>
            </a:r>
            <a:endParaRPr b="1" i="0" sz="1634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lang="en-US" sz="163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b="1" lang="en-US" sz="143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GML)</a:t>
            </a:r>
            <a:endParaRPr b="1" sz="1434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3" name="Google Shape;293;p30"/>
          <p:cNvSpPr/>
          <p:nvPr/>
        </p:nvSpPr>
        <p:spPr>
          <a:xfrm>
            <a:off x="2791555" y="4446913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0"/>
          <p:cNvSpPr/>
          <p:nvPr/>
        </p:nvSpPr>
        <p:spPr>
          <a:xfrm>
            <a:off x="2791555" y="4446913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9.9%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/>
          <p:nvPr/>
        </p:nvSpPr>
        <p:spPr>
          <a:xfrm>
            <a:off x="7421506" y="4446901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7421506" y="4446901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4.0%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/>
          <p:nvPr/>
        </p:nvSpPr>
        <p:spPr>
          <a:xfrm>
            <a:off x="5106520" y="4446901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0"/>
          <p:cNvSpPr/>
          <p:nvPr/>
        </p:nvSpPr>
        <p:spPr>
          <a:xfrm>
            <a:off x="5106520" y="4446901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7.2%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0"/>
          <p:cNvSpPr/>
          <p:nvPr/>
        </p:nvSpPr>
        <p:spPr>
          <a:xfrm>
            <a:off x="9590264" y="4446925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109 orthogroups methylated </a:t>
            </a:r>
            <a:r>
              <a:rPr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 all three species</a:t>
            </a:r>
            <a:endParaRPr sz="1327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12794748" y="6365958"/>
            <a:ext cx="51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0" i="0" lang="en-US" sz="1127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10816038" y="1327795"/>
            <a:ext cx="1375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Ashey et al, 2026</a:t>
            </a:r>
            <a:endParaRPr sz="1200"/>
          </a:p>
        </p:txBody>
      </p:sp>
      <p:sp>
        <p:nvSpPr>
          <p:cNvPr id="302" name="Google Shape;302;p30"/>
          <p:cNvSpPr txBox="1"/>
          <p:nvPr/>
        </p:nvSpPr>
        <p:spPr>
          <a:xfrm>
            <a:off x="9370890" y="1334381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303" name="Google Shape;30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042" y="-14181"/>
            <a:ext cx="1375800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4" name="Google Shape;304;p30"/>
          <p:cNvSpPr txBox="1"/>
          <p:nvPr/>
        </p:nvSpPr>
        <p:spPr>
          <a:xfrm>
            <a:off x="369750" y="5709700"/>
            <a:ext cx="5205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D7378"/>
                </a:solidFill>
              </a:rPr>
              <a:t>*Description and interaction analyses based on</a:t>
            </a:r>
            <a:endParaRPr>
              <a:solidFill>
                <a:srgbClr val="5D73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D7378"/>
                </a:solidFill>
              </a:rPr>
              <a:t> reduced sample size (single timepoint), n≈5/species</a:t>
            </a:r>
            <a:endParaRPr>
              <a:solidFill>
                <a:srgbClr val="5D7378"/>
              </a:solidFill>
            </a:endParaRPr>
          </a:p>
        </p:txBody>
      </p:sp>
      <p:pic>
        <p:nvPicPr>
          <p:cNvPr id="305" name="Google Shape;30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415" y="-141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/>
          <p:nvPr/>
        </p:nvSpPr>
        <p:spPr>
          <a:xfrm>
            <a:off x="9618075" y="1788050"/>
            <a:ext cx="2366100" cy="3813000"/>
          </a:xfrm>
          <a:prstGeom prst="roundRect">
            <a:avLst>
              <a:gd fmla="val 7587" name="adj"/>
            </a:avLst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1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Epigenome varies by species, potentially </a:t>
            </a:r>
            <a:endParaRPr b="1" sz="28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underpinning differing physiologies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2791555" y="1375851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A. pulchra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7421506" y="1375838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P. tuahiniensis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5106520" y="1375838"/>
            <a:ext cx="20610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409"/>
              <a:buFont typeface="Calibri"/>
              <a:buNone/>
            </a:pPr>
            <a:r>
              <a:rPr b="1" i="1" lang="en-US" sz="1609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P. evermanni</a:t>
            </a:r>
            <a:endParaRPr b="0" i="0" sz="1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369748" y="1808685"/>
            <a:ext cx="2267100" cy="1154100"/>
          </a:xfrm>
          <a:prstGeom prst="rect">
            <a:avLst/>
          </a:prstGeom>
          <a:solidFill>
            <a:srgbClr val="DE8E07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1"/>
          <p:cNvSpPr/>
          <p:nvPr/>
        </p:nvSpPr>
        <p:spPr>
          <a:xfrm>
            <a:off x="369799" y="1808675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miRNAs</a:t>
            </a:r>
            <a:endParaRPr b="0" i="0" sz="1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2791555" y="1808685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1"/>
          <p:cNvSpPr/>
          <p:nvPr/>
        </p:nvSpPr>
        <p:spPr>
          <a:xfrm>
            <a:off x="2791555" y="1808685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39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7421506" y="1808672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7421506" y="1808672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37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5106520" y="1808672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1"/>
          <p:cNvSpPr/>
          <p:nvPr/>
        </p:nvSpPr>
        <p:spPr>
          <a:xfrm>
            <a:off x="5106520" y="1808672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DE8E07"/>
                </a:solidFill>
                <a:latin typeface="Georgia"/>
                <a:ea typeface="Georgia"/>
                <a:cs typeface="Georgia"/>
                <a:sym typeface="Georgia"/>
              </a:rPr>
              <a:t>45</a:t>
            </a:r>
            <a:endParaRPr b="0" i="0" sz="2705" u="none" cap="none" strike="noStrike">
              <a:solidFill>
                <a:srgbClr val="DE8E0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9590264" y="1808675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4 conserved </a:t>
            </a: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miRNAs</a:t>
            </a: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18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0" lang="en-US" sz="13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(miR-100, -2036, -2023, -2025)</a:t>
            </a:r>
            <a:endParaRPr b="0" sz="13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369748" y="3127799"/>
            <a:ext cx="2267100" cy="1154100"/>
          </a:xfrm>
          <a:prstGeom prst="rect">
            <a:avLst/>
          </a:prstGeom>
          <a:solidFill>
            <a:srgbClr val="2D69A9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369799" y="3127800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lncRNAs</a:t>
            </a:r>
            <a:endParaRPr b="0" i="0" sz="16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2791555" y="3127799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2791555" y="3127799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31,491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7421506" y="3127787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7421506" y="3127787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16,153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5106520" y="3127787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5106520" y="3127787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2D69A9"/>
                </a:solidFill>
                <a:latin typeface="Georgia"/>
                <a:ea typeface="Georgia"/>
                <a:cs typeface="Georgia"/>
                <a:sym typeface="Georgia"/>
              </a:rPr>
              <a:t>10,090</a:t>
            </a:r>
            <a:endParaRPr b="0" i="0" sz="2705" u="none" cap="none" strike="noStrike">
              <a:solidFill>
                <a:srgbClr val="2D69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9590264" y="3127800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46 </a:t>
            </a: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conserved lncRNA</a:t>
            </a:r>
            <a:endParaRPr b="1" sz="1827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369748" y="4446913"/>
            <a:ext cx="2267100" cy="1154100"/>
          </a:xfrm>
          <a:prstGeom prst="rect">
            <a:avLst/>
          </a:prstGeom>
          <a:solidFill>
            <a:srgbClr val="138F60"/>
          </a:solidFill>
          <a:ln>
            <a:noFill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>
            <a:off x="369799" y="4446925"/>
            <a:ext cx="2267100" cy="1154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i="0" lang="en-US" sz="1634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Methylation</a:t>
            </a:r>
            <a:endParaRPr b="1" i="0" sz="1634" u="none" cap="none" strike="noStrik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34"/>
              <a:buFont typeface="Georgia"/>
              <a:buNone/>
            </a:pPr>
            <a:r>
              <a:rPr b="1" lang="en-US" sz="163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(</a:t>
            </a:r>
            <a:r>
              <a:rPr b="1" lang="en-US" sz="143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GML)</a:t>
            </a:r>
            <a:endParaRPr b="1" sz="1434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2791555" y="4446913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2791555" y="4446913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9.9%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7421506" y="4446901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7421506" y="4446901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4.0%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106520" y="4446901"/>
            <a:ext cx="2061000" cy="1154100"/>
          </a:xfrm>
          <a:prstGeom prst="rect">
            <a:avLst/>
          </a:prstGeom>
          <a:solidFill>
            <a:srgbClr val="FFFFFF"/>
          </a:solidFill>
          <a:ln cap="flat" cmpd="sng" w="14325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050" lIns="103050" spcFirstLastPara="1" rIns="103050" wrap="square" tIns="10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>
            <a:off x="5106520" y="4446901"/>
            <a:ext cx="2061000" cy="115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5"/>
              <a:buFont typeface="Georgia"/>
              <a:buNone/>
            </a:pPr>
            <a:r>
              <a:rPr b="1" i="0" lang="en-US" sz="2705" u="none" cap="none" strike="noStrike">
                <a:solidFill>
                  <a:srgbClr val="138F60"/>
                </a:solidFill>
                <a:latin typeface="Georgia"/>
                <a:ea typeface="Georgia"/>
                <a:cs typeface="Georgia"/>
                <a:sym typeface="Georgia"/>
              </a:rPr>
              <a:t>7.2%</a:t>
            </a:r>
            <a:endParaRPr b="0" i="0" sz="2705" u="none" cap="none" strike="noStrike">
              <a:solidFill>
                <a:srgbClr val="138F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9590264" y="4446925"/>
            <a:ext cx="2457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1"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109 orthogroups methylated </a:t>
            </a:r>
            <a:r>
              <a:rPr lang="en-US" sz="1827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 all three species</a:t>
            </a:r>
            <a:endParaRPr sz="1327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12794748" y="6365958"/>
            <a:ext cx="5154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500" lIns="103050" spcFirstLastPara="1" rIns="103050" wrap="square" tIns="51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127"/>
              <a:buFont typeface="Calibri"/>
              <a:buNone/>
            </a:pPr>
            <a:r>
              <a:rPr b="0" i="0" lang="en-US" sz="1127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1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69750" y="5709700"/>
            <a:ext cx="52056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D7378"/>
                </a:solidFill>
              </a:rPr>
              <a:t>*Description and interaction analyses based on</a:t>
            </a:r>
            <a:endParaRPr>
              <a:solidFill>
                <a:srgbClr val="5D737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D7378"/>
                </a:solidFill>
              </a:rPr>
              <a:t> reduced sample size (single timepoint), n≈5/species</a:t>
            </a:r>
            <a:endParaRPr>
              <a:solidFill>
                <a:srgbClr val="5D7378"/>
              </a:solidFill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10816038" y="1327795"/>
            <a:ext cx="13758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Ashey et al, 2026</a:t>
            </a:r>
            <a:endParaRPr sz="1200"/>
          </a:p>
        </p:txBody>
      </p:sp>
      <p:sp>
        <p:nvSpPr>
          <p:cNvPr id="346" name="Google Shape;346;p31"/>
          <p:cNvSpPr txBox="1"/>
          <p:nvPr/>
        </p:nvSpPr>
        <p:spPr>
          <a:xfrm>
            <a:off x="9370890" y="1334381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347" name="Google Shape;3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6042" y="-14181"/>
            <a:ext cx="1375800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8" name="Google Shape;3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8415" y="-141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Epi-miRNAs target methylation machinery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32" title="lncRNA sponge.png"/>
          <p:cNvPicPr preferRelativeResize="0"/>
          <p:nvPr/>
        </p:nvPicPr>
        <p:blipFill rotWithShape="1">
          <a:blip r:embed="rId3">
            <a:alphaModFix/>
          </a:blip>
          <a:srcRect b="11145" l="20673" r="0" t="48015"/>
          <a:stretch/>
        </p:blipFill>
        <p:spPr>
          <a:xfrm>
            <a:off x="498937" y="2209667"/>
            <a:ext cx="7325573" cy="26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/>
          <p:nvPr/>
        </p:nvSpPr>
        <p:spPr>
          <a:xfrm>
            <a:off x="7438575" y="746750"/>
            <a:ext cx="453600" cy="3267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2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epi-miRNAs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miRNAs targeting the foundational machinery of epigenetic pathways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8607150" y="2486112"/>
            <a:ext cx="3099000" cy="2208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Interactions supported by:</a:t>
            </a:r>
            <a:endParaRPr sz="1800"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miRNA - mRNA predicted binding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significantly coexpressed</a:t>
            </a:r>
            <a:endParaRPr sz="1800"/>
          </a:p>
        </p:txBody>
      </p:sp>
      <p:sp>
        <p:nvSpPr>
          <p:cNvPr id="361" name="Google Shape;361;p32"/>
          <p:cNvSpPr/>
          <p:nvPr/>
        </p:nvSpPr>
        <p:spPr>
          <a:xfrm>
            <a:off x="143280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TET3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initiates DNA demethylation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4728738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MBD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methylation reader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3" name="Google Shape;363;p32"/>
          <p:cNvSpPr/>
          <p:nvPr/>
        </p:nvSpPr>
        <p:spPr>
          <a:xfrm>
            <a:off x="806875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PRDM14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indirect demethylation by repressing DNMT3s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64" name="Google Shape;364;p32"/>
          <p:cNvSpPr/>
          <p:nvPr/>
        </p:nvSpPr>
        <p:spPr>
          <a:xfrm>
            <a:off x="2926750" y="2195050"/>
            <a:ext cx="4536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2164340" y="2229963"/>
            <a:ext cx="1376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miRNA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2"/>
          <p:cNvSpPr/>
          <p:nvPr/>
        </p:nvSpPr>
        <p:spPr>
          <a:xfrm>
            <a:off x="1107275" y="5286375"/>
            <a:ext cx="10084500" cy="126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2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9" name="Google Shape;369;p32"/>
          <p:cNvSpPr/>
          <p:nvPr/>
        </p:nvSpPr>
        <p:spPr>
          <a:xfrm>
            <a:off x="13500" y="148500"/>
            <a:ext cx="10435500" cy="187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Epi-miRNAs target methylation machinery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33" title="lncRNA sponge.png"/>
          <p:cNvPicPr preferRelativeResize="0"/>
          <p:nvPr/>
        </p:nvPicPr>
        <p:blipFill rotWithShape="1">
          <a:blip r:embed="rId3">
            <a:alphaModFix/>
          </a:blip>
          <a:srcRect b="11145" l="20673" r="0" t="48015"/>
          <a:stretch/>
        </p:blipFill>
        <p:spPr>
          <a:xfrm>
            <a:off x="498937" y="2209667"/>
            <a:ext cx="7325573" cy="26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/>
          <p:nvPr/>
        </p:nvSpPr>
        <p:spPr>
          <a:xfrm>
            <a:off x="7438575" y="746750"/>
            <a:ext cx="453600" cy="3267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epi-miRNAs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380" name="Google Shape;380;p33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miRNAs targeting the foundational machinery of epigenetic pathways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8607150" y="2486112"/>
            <a:ext cx="3099000" cy="2208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Interactions supported by:</a:t>
            </a:r>
            <a:endParaRPr sz="1800"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miRNA - mRNA predicted binding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significantly coexpressed</a:t>
            </a:r>
            <a:endParaRPr sz="1800"/>
          </a:p>
        </p:txBody>
      </p:sp>
      <p:sp>
        <p:nvSpPr>
          <p:cNvPr id="382" name="Google Shape;382;p33"/>
          <p:cNvSpPr/>
          <p:nvPr/>
        </p:nvSpPr>
        <p:spPr>
          <a:xfrm>
            <a:off x="143280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TET3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initiates DNA demethylation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4728738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MBD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methylation reader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4" name="Google Shape;384;p33"/>
          <p:cNvSpPr/>
          <p:nvPr/>
        </p:nvSpPr>
        <p:spPr>
          <a:xfrm>
            <a:off x="806875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PRDM14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indirect demethylation by repressing DNMT3s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2926750" y="2195050"/>
            <a:ext cx="4536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2164340" y="2229963"/>
            <a:ext cx="1376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miRNA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1107275" y="5286375"/>
            <a:ext cx="10084500" cy="126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389" name="Google Shape;38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0" name="Google Shape;390;p33"/>
          <p:cNvSpPr/>
          <p:nvPr/>
        </p:nvSpPr>
        <p:spPr>
          <a:xfrm>
            <a:off x="0" y="121500"/>
            <a:ext cx="8059500" cy="60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Epi-miRNAs target methylation machinery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34" title="lncRNA sponge.png"/>
          <p:cNvPicPr preferRelativeResize="0"/>
          <p:nvPr/>
        </p:nvPicPr>
        <p:blipFill rotWithShape="1">
          <a:blip r:embed="rId3">
            <a:alphaModFix/>
          </a:blip>
          <a:srcRect b="11145" l="20673" r="0" t="48015"/>
          <a:stretch/>
        </p:blipFill>
        <p:spPr>
          <a:xfrm>
            <a:off x="498937" y="2209667"/>
            <a:ext cx="7325573" cy="264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/>
          <p:nvPr/>
        </p:nvSpPr>
        <p:spPr>
          <a:xfrm>
            <a:off x="7438575" y="746750"/>
            <a:ext cx="453600" cy="3267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4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epi-miRNAs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401" name="Google Shape;401;p34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miRNAs targeting the foundational machinery of epigenetic pathways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402" name="Google Shape;402;p34"/>
          <p:cNvSpPr txBox="1"/>
          <p:nvPr/>
        </p:nvSpPr>
        <p:spPr>
          <a:xfrm>
            <a:off x="8607150" y="2486112"/>
            <a:ext cx="3099000" cy="2208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/>
              <a:t>Interactions supported by:</a:t>
            </a:r>
            <a:endParaRPr sz="1800"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miRNA - mRNA predicted binding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significantly coexpressed</a:t>
            </a:r>
            <a:endParaRPr sz="1800"/>
          </a:p>
        </p:txBody>
      </p:sp>
      <p:sp>
        <p:nvSpPr>
          <p:cNvPr id="403" name="Google Shape;403;p34"/>
          <p:cNvSpPr/>
          <p:nvPr/>
        </p:nvSpPr>
        <p:spPr>
          <a:xfrm>
            <a:off x="143280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TET3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initiates DNA demethylation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4728738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MBD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methylation reader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8068750" y="5313219"/>
            <a:ext cx="2734200" cy="1170900"/>
          </a:xfrm>
          <a:prstGeom prst="ellipse">
            <a:avLst/>
          </a:prstGeom>
          <a:solidFill>
            <a:srgbClr val="098A8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</a:rPr>
              <a:t>PRDM14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indirect demethylation by repressing DNMT3s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2926750" y="2195050"/>
            <a:ext cx="4536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 txBox="1"/>
          <p:nvPr/>
        </p:nvSpPr>
        <p:spPr>
          <a:xfrm>
            <a:off x="2164340" y="2229963"/>
            <a:ext cx="1376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Roboto"/>
                <a:ea typeface="Roboto"/>
                <a:cs typeface="Roboto"/>
                <a:sym typeface="Roboto"/>
              </a:rPr>
              <a:t>miRNA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409" name="Google Shape;40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Epi-miRNAs target methylation machinery </a:t>
            </a:r>
            <a:r>
              <a:rPr b="1" lang="en-US" sz="2800">
                <a:solidFill>
                  <a:srgbClr val="38761D"/>
                </a:solidFill>
                <a:latin typeface="Georgia"/>
                <a:ea typeface="Georgia"/>
                <a:cs typeface="Georgia"/>
                <a:sym typeface="Georgia"/>
              </a:rPr>
              <a:t>and more! </a:t>
            </a:r>
            <a:endParaRPr b="0" i="0" sz="28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epi-miRNAs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miRNAs targeting the foundational machinery of epigenetic pathways</a:t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2926750" y="2195050"/>
            <a:ext cx="453600" cy="326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0" name="Google Shape;420;p35"/>
          <p:cNvPicPr preferRelativeResize="0"/>
          <p:nvPr/>
        </p:nvPicPr>
        <p:blipFill rotWithShape="1">
          <a:blip r:embed="rId3">
            <a:alphaModFix/>
          </a:blip>
          <a:srcRect b="0" l="0" r="26308" t="3063"/>
          <a:stretch/>
        </p:blipFill>
        <p:spPr>
          <a:xfrm>
            <a:off x="560622" y="2083550"/>
            <a:ext cx="6628475" cy="4706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35"/>
          <p:cNvGrpSpPr/>
          <p:nvPr/>
        </p:nvGrpSpPr>
        <p:grpSpPr>
          <a:xfrm>
            <a:off x="7892163" y="2767145"/>
            <a:ext cx="3516615" cy="2829081"/>
            <a:chOff x="7892175" y="3273225"/>
            <a:chExt cx="2269076" cy="1825449"/>
          </a:xfrm>
        </p:grpSpPr>
        <p:pic>
          <p:nvPicPr>
            <p:cNvPr id="422" name="Google Shape;422;p35"/>
            <p:cNvPicPr preferRelativeResize="0"/>
            <p:nvPr/>
          </p:nvPicPr>
          <p:blipFill rotWithShape="1">
            <a:blip r:embed="rId3">
              <a:alphaModFix/>
            </a:blip>
            <a:srcRect b="13956" l="74773" r="0" t="48445"/>
            <a:stretch/>
          </p:blipFill>
          <p:spPr>
            <a:xfrm>
              <a:off x="7892175" y="3273225"/>
              <a:ext cx="2269076" cy="1825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35"/>
            <p:cNvPicPr preferRelativeResize="0"/>
            <p:nvPr/>
          </p:nvPicPr>
          <p:blipFill rotWithShape="1">
            <a:blip r:embed="rId3">
              <a:alphaModFix/>
            </a:blip>
            <a:srcRect b="61973" l="74773" r="0" t="26814"/>
            <a:stretch/>
          </p:blipFill>
          <p:spPr>
            <a:xfrm>
              <a:off x="7892175" y="4554271"/>
              <a:ext cx="2269076" cy="544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4" name="Google Shape;424;p35"/>
            <p:cNvPicPr preferRelativeResize="0"/>
            <p:nvPr/>
          </p:nvPicPr>
          <p:blipFill rotWithShape="1">
            <a:blip r:embed="rId3">
              <a:alphaModFix/>
            </a:blip>
            <a:srcRect b="51376" l="74773" r="0" t="37810"/>
            <a:stretch/>
          </p:blipFill>
          <p:spPr>
            <a:xfrm>
              <a:off x="7892175" y="4051940"/>
              <a:ext cx="2269076" cy="525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5" name="Google Shape;425;p35"/>
          <p:cNvSpPr txBox="1"/>
          <p:nvPr/>
        </p:nvSpPr>
        <p:spPr>
          <a:xfrm>
            <a:off x="7078732" y="2364629"/>
            <a:ext cx="11187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35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7069661" y="5044939"/>
            <a:ext cx="11187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16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7078818" y="3704771"/>
            <a:ext cx="1118700" cy="8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500">
                <a:latin typeface="Calibri"/>
                <a:ea typeface="Calibri"/>
                <a:cs typeface="Calibri"/>
                <a:sym typeface="Calibri"/>
              </a:rPr>
              <a:t>5</a:t>
            </a:r>
            <a:endParaRPr b="1"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5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429" name="Google Shape;4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6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6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LncRNAs sequester miRNAs (ceRNA networks)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36" title="lncRNA spon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226" y="1486563"/>
            <a:ext cx="7102479" cy="497297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6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ceRNAs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lncRNAs mediating the indirect derepression of miRNAs’ targets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440" name="Google Shape;440;p36"/>
          <p:cNvSpPr txBox="1"/>
          <p:nvPr/>
        </p:nvSpPr>
        <p:spPr>
          <a:xfrm>
            <a:off x="449607" y="6070197"/>
            <a:ext cx="11304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For an miRNA-mRNA binding pair, the lncRNA: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</a:t>
            </a:r>
            <a:r>
              <a:rPr lang="en-US" sz="1800"/>
              <a:t>putatively binds to the miRNA      negatively coexpressed with miRNA      </a:t>
            </a:r>
            <a:r>
              <a:rPr i="1" lang="en-US" sz="1800"/>
              <a:t>positively</a:t>
            </a:r>
            <a:r>
              <a:rPr lang="en-US" sz="1800"/>
              <a:t> coexpressed with mRNA</a:t>
            </a:r>
            <a:endParaRPr sz="1800"/>
          </a:p>
        </p:txBody>
      </p:sp>
      <p:sp>
        <p:nvSpPr>
          <p:cNvPr id="441" name="Google Shape;441;p36"/>
          <p:cNvSpPr/>
          <p:nvPr/>
        </p:nvSpPr>
        <p:spPr>
          <a:xfrm>
            <a:off x="542481" y="6411463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6"/>
          <p:cNvSpPr/>
          <p:nvPr/>
        </p:nvSpPr>
        <p:spPr>
          <a:xfrm>
            <a:off x="3922176" y="6429393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6"/>
          <p:cNvSpPr/>
          <p:nvPr/>
        </p:nvSpPr>
        <p:spPr>
          <a:xfrm>
            <a:off x="7951811" y="6413704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6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445" name="Google Shape;44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7"/>
          <p:cNvSpPr/>
          <p:nvPr/>
        </p:nvSpPr>
        <p:spPr>
          <a:xfrm>
            <a:off x="485550" y="857800"/>
            <a:ext cx="9801600" cy="1010100"/>
          </a:xfrm>
          <a:prstGeom prst="roundRect">
            <a:avLst>
              <a:gd fmla="val 783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7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LncRNAs sequester miRNAs (ceRNA networks)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37" title="lncRNA spong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226" y="1486563"/>
            <a:ext cx="7102479" cy="497297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7"/>
          <p:cNvSpPr txBox="1"/>
          <p:nvPr/>
        </p:nvSpPr>
        <p:spPr>
          <a:xfrm>
            <a:off x="498925" y="934481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</a:rPr>
              <a:t>ceRNAs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455" name="Google Shape;455;p37"/>
          <p:cNvSpPr txBox="1"/>
          <p:nvPr/>
        </p:nvSpPr>
        <p:spPr>
          <a:xfrm>
            <a:off x="498925" y="1342781"/>
            <a:ext cx="957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</a:rPr>
              <a:t>lncRNAs mediating the indirect derepression of miRNAs’ targets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449607" y="6070197"/>
            <a:ext cx="113040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34343"/>
                </a:solidFill>
              </a:rPr>
              <a:t>For an miRNA-mRNA binding pair, the lncRNA:</a:t>
            </a:r>
            <a:endParaRPr sz="15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  putatively binds to the miRNA      negatively coexpressed with miRNA      </a:t>
            </a:r>
            <a:r>
              <a:rPr i="1" lang="en-US" sz="1800"/>
              <a:t>positively</a:t>
            </a:r>
            <a:r>
              <a:rPr lang="en-US" sz="1800"/>
              <a:t> coexpressed with mRNA</a:t>
            </a:r>
            <a:endParaRPr sz="1800"/>
          </a:p>
        </p:txBody>
      </p:sp>
      <p:sp>
        <p:nvSpPr>
          <p:cNvPr id="457" name="Google Shape;457;p37"/>
          <p:cNvSpPr/>
          <p:nvPr/>
        </p:nvSpPr>
        <p:spPr>
          <a:xfrm>
            <a:off x="8689808" y="4427213"/>
            <a:ext cx="2911500" cy="822900"/>
          </a:xfrm>
          <a:prstGeom prst="roundRect">
            <a:avLst>
              <a:gd fmla="val 7831" name="adj"/>
            </a:avLst>
          </a:prstGeom>
          <a:solidFill>
            <a:srgbClr val="098A8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7"/>
          <p:cNvSpPr/>
          <p:nvPr/>
        </p:nvSpPr>
        <p:spPr>
          <a:xfrm>
            <a:off x="8689808" y="3411438"/>
            <a:ext cx="2911500" cy="822900"/>
          </a:xfrm>
          <a:prstGeom prst="roundRect">
            <a:avLst>
              <a:gd fmla="val 7831" name="adj"/>
            </a:avLst>
          </a:prstGeom>
          <a:solidFill>
            <a:srgbClr val="098A8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7"/>
          <p:cNvSpPr/>
          <p:nvPr/>
        </p:nvSpPr>
        <p:spPr>
          <a:xfrm>
            <a:off x="8689808" y="2395663"/>
            <a:ext cx="2911500" cy="822900"/>
          </a:xfrm>
          <a:prstGeom prst="roundRect">
            <a:avLst>
              <a:gd fmla="val 7831" name="adj"/>
            </a:avLst>
          </a:prstGeom>
          <a:solidFill>
            <a:srgbClr val="098A8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60" name="Google Shape;460;p37"/>
          <p:cNvGraphicFramePr/>
          <p:nvPr/>
        </p:nvGraphicFramePr>
        <p:xfrm>
          <a:off x="8881545" y="251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{9665AB95-0354-442B-8A9C-EF306FA1A1F9}</a:tableStyleId>
              </a:tblPr>
              <a:tblGrid>
                <a:gridCol w="1929725"/>
                <a:gridCol w="790025"/>
              </a:tblGrid>
              <a:tr h="10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>
                          <a:solidFill>
                            <a:schemeClr val="lt1"/>
                          </a:solidFill>
                        </a:rPr>
                        <a:t>A. pulchra</a:t>
                      </a:r>
                      <a:endParaRPr i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564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>
                          <a:solidFill>
                            <a:schemeClr val="lt1"/>
                          </a:solidFill>
                        </a:rPr>
                        <a:t>P. evermanni</a:t>
                      </a:r>
                      <a:endParaRPr i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175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2000">
                          <a:solidFill>
                            <a:schemeClr val="lt1"/>
                          </a:solidFill>
                        </a:rPr>
                        <a:t>P. tuahiniensis</a:t>
                      </a:r>
                      <a:endParaRPr i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</a:rPr>
                        <a:t>564</a:t>
                      </a:r>
                      <a:endParaRPr b="1" sz="20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1" name="Google Shape;461;p37"/>
          <p:cNvSpPr/>
          <p:nvPr/>
        </p:nvSpPr>
        <p:spPr>
          <a:xfrm>
            <a:off x="542481" y="6411463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7"/>
          <p:cNvSpPr/>
          <p:nvPr/>
        </p:nvSpPr>
        <p:spPr>
          <a:xfrm>
            <a:off x="3922176" y="6429393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"/>
          <p:cNvSpPr/>
          <p:nvPr/>
        </p:nvSpPr>
        <p:spPr>
          <a:xfrm>
            <a:off x="7951811" y="6413704"/>
            <a:ext cx="70200" cy="66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7"/>
          <p:cNvSpPr txBox="1"/>
          <p:nvPr/>
        </p:nvSpPr>
        <p:spPr>
          <a:xfrm>
            <a:off x="10869428" y="1398754"/>
            <a:ext cx="1437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Durkin et al. 2026</a:t>
            </a:r>
            <a:endParaRPr sz="1200"/>
          </a:p>
        </p:txBody>
      </p:sp>
      <p:pic>
        <p:nvPicPr>
          <p:cNvPr id="465" name="Google Shape;465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61390" y="57375"/>
            <a:ext cx="1053082" cy="13758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8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452250" y="4202900"/>
            <a:ext cx="11287200" cy="2330400"/>
          </a:xfrm>
          <a:prstGeom prst="roundRect">
            <a:avLst>
              <a:gd fmla="val 1041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9" name="Google Shape;479;p39"/>
          <p:cNvSpPr txBox="1"/>
          <p:nvPr/>
        </p:nvSpPr>
        <p:spPr>
          <a:xfrm>
            <a:off x="452250" y="4202900"/>
            <a:ext cx="1801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b="1" sz="3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0" name="Google Shape;480;p39"/>
          <p:cNvSpPr txBox="1"/>
          <p:nvPr/>
        </p:nvSpPr>
        <p:spPr>
          <a:xfrm>
            <a:off x="2253750" y="4400275"/>
            <a:ext cx="94857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candidate epi-miRNAs and ceRNAs suggest extensive cross-layer interactions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cross-species presence suggests conserved cnidarian feature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 single-layer analyses may miss the full picture</a:t>
            </a:r>
            <a:endParaRPr b="1"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1" name="Google Shape;481;p39"/>
          <p:cNvSpPr/>
          <p:nvPr/>
        </p:nvSpPr>
        <p:spPr>
          <a:xfrm>
            <a:off x="2173300" y="4400275"/>
            <a:ext cx="9377400" cy="197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452250" y="4202900"/>
            <a:ext cx="11287200" cy="2330400"/>
          </a:xfrm>
          <a:prstGeom prst="roundRect">
            <a:avLst>
              <a:gd fmla="val 1041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89" name="Google Shape;489;p40"/>
          <p:cNvSpPr txBox="1"/>
          <p:nvPr/>
        </p:nvSpPr>
        <p:spPr>
          <a:xfrm>
            <a:off x="452250" y="4202900"/>
            <a:ext cx="1801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b="1" sz="3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0" name="Google Shape;490;p40"/>
          <p:cNvSpPr txBox="1"/>
          <p:nvPr/>
        </p:nvSpPr>
        <p:spPr>
          <a:xfrm>
            <a:off x="2253750" y="4400275"/>
            <a:ext cx="94857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candidate epi-miRNAs and ceRNAs suggest extensive cross-layer interactions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cross-species presence suggests conserved cnidarian feature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 single-layer analyses may miss the full picture</a:t>
            </a:r>
            <a:endParaRPr b="1"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1" name="Google Shape;491;p40"/>
          <p:cNvSpPr/>
          <p:nvPr/>
        </p:nvSpPr>
        <p:spPr>
          <a:xfrm>
            <a:off x="2173300" y="5285700"/>
            <a:ext cx="9485700" cy="1086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1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452250" y="4202900"/>
            <a:ext cx="11287200" cy="2330400"/>
          </a:xfrm>
          <a:prstGeom prst="roundRect">
            <a:avLst>
              <a:gd fmla="val 1041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452250" y="4202900"/>
            <a:ext cx="1801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b="1" sz="3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2253750" y="4400275"/>
            <a:ext cx="94857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candidate epi-miRNAs and ceRNAs suggest extensive cross-layer interactions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cross-species presence suggests conserved cnidarian feature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 single-layer analyses may miss the full picture</a:t>
            </a:r>
            <a:endParaRPr b="1"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1" name="Google Shape;501;p41"/>
          <p:cNvSpPr/>
          <p:nvPr/>
        </p:nvSpPr>
        <p:spPr>
          <a:xfrm>
            <a:off x="2173300" y="5916225"/>
            <a:ext cx="8586000" cy="4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2"/>
          <p:cNvSpPr txBox="1"/>
          <p:nvPr>
            <p:ph idx="1" type="body"/>
          </p:nvPr>
        </p:nvSpPr>
        <p:spPr>
          <a:xfrm>
            <a:off x="207875" y="25002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Do cross-layer epigenetic interactions exist in cnidarians?</a:t>
            </a:r>
            <a:r>
              <a:rPr b="1" lang="en-US" sz="3500">
                <a:solidFill>
                  <a:srgbClr val="0B1A2E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1" sz="3500">
              <a:solidFill>
                <a:srgbClr val="0B1A2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F7077"/>
                </a:solidFill>
                <a:latin typeface="Georgia"/>
                <a:ea typeface="Georgia"/>
                <a:cs typeface="Georgia"/>
                <a:sym typeface="Georgia"/>
              </a:rPr>
              <a:t>What does that mean for how we study coral epigenetics?</a:t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452250" y="4202900"/>
            <a:ext cx="11287200" cy="2330400"/>
          </a:xfrm>
          <a:prstGeom prst="roundRect">
            <a:avLst>
              <a:gd fmla="val 1041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9" name="Google Shape;509;p42"/>
          <p:cNvSpPr txBox="1"/>
          <p:nvPr/>
        </p:nvSpPr>
        <p:spPr>
          <a:xfrm>
            <a:off x="452250" y="4202900"/>
            <a:ext cx="18015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YES</a:t>
            </a:r>
            <a:endParaRPr b="1" sz="3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10" name="Google Shape;510;p42"/>
          <p:cNvSpPr txBox="1"/>
          <p:nvPr/>
        </p:nvSpPr>
        <p:spPr>
          <a:xfrm>
            <a:off x="2253750" y="4400275"/>
            <a:ext cx="94857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candidate epi-miRNAs and ceRNAs suggest extensive cross-layer interactions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Georgia"/>
              <a:buChar char="●"/>
            </a:pPr>
            <a:r>
              <a:rPr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cross-species presence suggests conserved cnidarian feature</a:t>
            </a:r>
            <a:endParaRPr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 single-layer analyses may miss the full picture</a:t>
            </a:r>
            <a:endParaRPr b="1" sz="26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3"/>
          <p:cNvSpPr txBox="1"/>
          <p:nvPr>
            <p:ph idx="1" type="body"/>
          </p:nvPr>
        </p:nvSpPr>
        <p:spPr>
          <a:xfrm>
            <a:off x="207888" y="1095375"/>
            <a:ext cx="11775900" cy="4555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Now the question is…</a:t>
            </a:r>
            <a:endParaRPr sz="3000">
              <a:solidFill>
                <a:srgbClr val="1230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rgbClr val="1230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Does the integrated epigenome </a:t>
            </a:r>
            <a:r>
              <a:rPr b="1" lang="en-US" sz="3500" u="sng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predict expression</a:t>
            </a:r>
            <a:r>
              <a:rPr b="1" lang="en-US" sz="3500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 of </a:t>
            </a:r>
            <a:r>
              <a:rPr b="1" lang="en-US" sz="3500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physiologically</a:t>
            </a:r>
            <a:r>
              <a:rPr b="1" lang="en-US" sz="3500">
                <a:solidFill>
                  <a:srgbClr val="12303A"/>
                </a:solidFill>
                <a:latin typeface="Georgia"/>
                <a:ea typeface="Georgia"/>
                <a:cs typeface="Georgia"/>
                <a:sym typeface="Georgia"/>
              </a:rPr>
              <a:t> relevant genes?</a:t>
            </a:r>
            <a:endParaRPr b="1" sz="3500">
              <a:solidFill>
                <a:srgbClr val="12303A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5F7077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A23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4"/>
          <p:cNvSpPr txBox="1"/>
          <p:nvPr>
            <p:ph type="title"/>
          </p:nvPr>
        </p:nvSpPr>
        <p:spPr>
          <a:xfrm>
            <a:off x="0" y="0"/>
            <a:ext cx="12191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Mo'orea, French Polynesia</a:t>
            </a:r>
            <a:endParaRPr b="1" sz="3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522" name="Google Shape;522;p44"/>
          <p:cNvGrpSpPr/>
          <p:nvPr/>
        </p:nvGrpSpPr>
        <p:grpSpPr>
          <a:xfrm>
            <a:off x="5889208" y="331591"/>
            <a:ext cx="6303008" cy="6291286"/>
            <a:chOff x="5290600" y="1963550"/>
            <a:chExt cx="3853401" cy="3285439"/>
          </a:xfrm>
        </p:grpSpPr>
        <p:pic>
          <p:nvPicPr>
            <p:cNvPr id="523" name="Google Shape;523;p44" title="Moorea_vue_par_Sentinel_2_(cropped)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90600" y="1963550"/>
              <a:ext cx="3853401" cy="32854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/>
            <p:nvPr/>
          </p:nvSpPr>
          <p:spPr>
            <a:xfrm>
              <a:off x="6196505" y="2469711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25" name="Google Shape;525;p44"/>
            <p:cNvSpPr/>
            <p:nvPr/>
          </p:nvSpPr>
          <p:spPr>
            <a:xfrm>
              <a:off x="7742175" y="2294825"/>
              <a:ext cx="197100" cy="17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</p:grpSp>
      <p:pic>
        <p:nvPicPr>
          <p:cNvPr id="526" name="Google Shape;526;p44"/>
          <p:cNvPicPr preferRelativeResize="0"/>
          <p:nvPr/>
        </p:nvPicPr>
        <p:blipFill rotWithShape="1">
          <a:blip r:embed="rId4">
            <a:alphaModFix/>
          </a:blip>
          <a:srcRect b="0" l="0" r="0" t="64801"/>
          <a:stretch/>
        </p:blipFill>
        <p:spPr>
          <a:xfrm>
            <a:off x="213240" y="4260180"/>
            <a:ext cx="11765219" cy="2362700"/>
          </a:xfrm>
          <a:prstGeom prst="rect">
            <a:avLst/>
          </a:prstGeom>
          <a:noFill/>
          <a:ln cap="flat" cmpd="sng" w="38100">
            <a:solidFill>
              <a:srgbClr val="FFAB3F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527" name="Google Shape;527;p44"/>
          <p:cNvCxnSpPr>
            <a:stCxn id="524" idx="2"/>
            <a:endCxn id="526" idx="0"/>
          </p:cNvCxnSpPr>
          <p:nvPr/>
        </p:nvCxnSpPr>
        <p:spPr>
          <a:xfrm flipH="1">
            <a:off x="6095769" y="1635753"/>
            <a:ext cx="1336800" cy="26244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44"/>
          <p:cNvCxnSpPr>
            <a:stCxn id="525" idx="2"/>
            <a:endCxn id="526" idx="0"/>
          </p:cNvCxnSpPr>
          <p:nvPr/>
        </p:nvCxnSpPr>
        <p:spPr>
          <a:xfrm flipH="1">
            <a:off x="6095922" y="1300864"/>
            <a:ext cx="3864900" cy="29592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44"/>
          <p:cNvSpPr txBox="1"/>
          <p:nvPr/>
        </p:nvSpPr>
        <p:spPr>
          <a:xfrm>
            <a:off x="2303721" y="6246625"/>
            <a:ext cx="17466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Acropora pulchra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530" name="Google Shape;530;p44"/>
          <p:cNvSpPr txBox="1"/>
          <p:nvPr/>
        </p:nvSpPr>
        <p:spPr>
          <a:xfrm>
            <a:off x="5604825" y="6246625"/>
            <a:ext cx="23730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Pocillopora tuahiniensis</a:t>
            </a:r>
            <a:endParaRPr i="1" sz="1600">
              <a:solidFill>
                <a:schemeClr val="lt1"/>
              </a:solidFill>
            </a:endParaRPr>
          </a:p>
        </p:txBody>
      </p:sp>
      <p:sp>
        <p:nvSpPr>
          <p:cNvPr id="531" name="Google Shape;531;p44"/>
          <p:cNvSpPr txBox="1"/>
          <p:nvPr/>
        </p:nvSpPr>
        <p:spPr>
          <a:xfrm>
            <a:off x="10023350" y="6246625"/>
            <a:ext cx="1849500" cy="325500"/>
          </a:xfrm>
          <a:prstGeom prst="rect">
            <a:avLst/>
          </a:prstGeom>
          <a:solidFill>
            <a:srgbClr val="4D524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</a:rPr>
              <a:t>Porites evermanni</a:t>
            </a:r>
            <a:endParaRPr i="1" sz="1600">
              <a:solidFill>
                <a:schemeClr val="lt1"/>
              </a:solidFill>
            </a:endParaRPr>
          </a:p>
        </p:txBody>
      </p:sp>
      <p:pic>
        <p:nvPicPr>
          <p:cNvPr id="532" name="Google Shape;532;p44"/>
          <p:cNvPicPr preferRelativeResize="0"/>
          <p:nvPr/>
        </p:nvPicPr>
        <p:blipFill rotWithShape="1">
          <a:blip r:embed="rId5">
            <a:alphaModFix/>
          </a:blip>
          <a:srcRect b="47732" l="0" r="0" t="0"/>
          <a:stretch/>
        </p:blipFill>
        <p:spPr>
          <a:xfrm>
            <a:off x="5208376" y="856225"/>
            <a:ext cx="6735649" cy="3277925"/>
          </a:xfrm>
          <a:prstGeom prst="rect">
            <a:avLst/>
          </a:prstGeom>
          <a:noFill/>
          <a:ln cap="flat" cmpd="sng" w="37075">
            <a:solidFill>
              <a:srgbClr val="44868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3" name="Google Shape;533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26400" y="26016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44"/>
          <p:cNvSpPr txBox="1"/>
          <p:nvPr/>
        </p:nvSpPr>
        <p:spPr>
          <a:xfrm>
            <a:off x="2888425" y="2601650"/>
            <a:ext cx="952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4</a:t>
            </a:r>
            <a:endParaRPr b="1" sz="3500">
              <a:solidFill>
                <a:srgbClr val="FFFFFF"/>
              </a:solidFill>
            </a:endParaRPr>
          </a:p>
        </p:txBody>
      </p:sp>
      <p:pic>
        <p:nvPicPr>
          <p:cNvPr id="535" name="Google Shape;535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400" y="14695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4"/>
          <p:cNvSpPr txBox="1"/>
          <p:nvPr/>
        </p:nvSpPr>
        <p:spPr>
          <a:xfrm>
            <a:off x="2888425" y="1469525"/>
            <a:ext cx="1161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FFFFFF"/>
                </a:solidFill>
              </a:rPr>
              <a:t>x 10</a:t>
            </a:r>
            <a:endParaRPr b="1" sz="3500">
              <a:solidFill>
                <a:srgbClr val="FFFFFF"/>
              </a:solidFill>
            </a:endParaRPr>
          </a:p>
        </p:txBody>
      </p:sp>
      <p:sp>
        <p:nvSpPr>
          <p:cNvPr id="537" name="Google Shape;537;p44"/>
          <p:cNvSpPr/>
          <p:nvPr/>
        </p:nvSpPr>
        <p:spPr>
          <a:xfrm>
            <a:off x="7953375" y="2250275"/>
            <a:ext cx="7143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8" name="Google Shape;538;p44"/>
          <p:cNvCxnSpPr>
            <a:stCxn id="534" idx="3"/>
            <a:endCxn id="532" idx="1"/>
          </p:cNvCxnSpPr>
          <p:nvPr/>
        </p:nvCxnSpPr>
        <p:spPr>
          <a:xfrm flipH="1" rot="10800000">
            <a:off x="3840925" y="2495300"/>
            <a:ext cx="1367400" cy="582600"/>
          </a:xfrm>
          <a:prstGeom prst="straightConnector1">
            <a:avLst/>
          </a:prstGeom>
          <a:noFill/>
          <a:ln cap="flat" cmpd="sng" w="38100">
            <a:solidFill>
              <a:srgbClr val="44868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44"/>
          <p:cNvSpPr/>
          <p:nvPr/>
        </p:nvSpPr>
        <p:spPr>
          <a:xfrm>
            <a:off x="7657774" y="1109072"/>
            <a:ext cx="393600" cy="2362200"/>
          </a:xfrm>
          <a:prstGeom prst="rect">
            <a:avLst/>
          </a:prstGeom>
          <a:solidFill>
            <a:srgbClr val="FFE599">
              <a:alpha val="5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540" name="Google Shape;540;p44"/>
          <p:cNvSpPr txBox="1"/>
          <p:nvPr/>
        </p:nvSpPr>
        <p:spPr>
          <a:xfrm>
            <a:off x="5159650" y="507773"/>
            <a:ext cx="67845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E599"/>
                </a:solidFill>
              </a:rPr>
              <a:t>*Modeling work uses full dataset (n≈40/species)</a:t>
            </a:r>
            <a:endParaRPr sz="1500">
              <a:solidFill>
                <a:srgbClr val="FFE599"/>
              </a:solidFill>
            </a:endParaRPr>
          </a:p>
        </p:txBody>
      </p:sp>
      <p:sp>
        <p:nvSpPr>
          <p:cNvPr id="541" name="Google Shape;541;p44"/>
          <p:cNvSpPr/>
          <p:nvPr/>
        </p:nvSpPr>
        <p:spPr>
          <a:xfrm>
            <a:off x="10954574" y="1109072"/>
            <a:ext cx="393600" cy="2362200"/>
          </a:xfrm>
          <a:prstGeom prst="rect">
            <a:avLst/>
          </a:prstGeom>
          <a:solidFill>
            <a:srgbClr val="FFE599">
              <a:alpha val="5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542" name="Google Shape;542;p44"/>
          <p:cNvSpPr/>
          <p:nvPr/>
        </p:nvSpPr>
        <p:spPr>
          <a:xfrm>
            <a:off x="10223324" y="1109072"/>
            <a:ext cx="393600" cy="2362200"/>
          </a:xfrm>
          <a:prstGeom prst="rect">
            <a:avLst/>
          </a:prstGeom>
          <a:solidFill>
            <a:srgbClr val="FFE599">
              <a:alpha val="5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543" name="Google Shape;543;p44"/>
          <p:cNvSpPr/>
          <p:nvPr/>
        </p:nvSpPr>
        <p:spPr>
          <a:xfrm>
            <a:off x="6795249" y="1109072"/>
            <a:ext cx="393600" cy="2362200"/>
          </a:xfrm>
          <a:prstGeom prst="rect">
            <a:avLst/>
          </a:prstGeom>
          <a:solidFill>
            <a:srgbClr val="FFE599">
              <a:alpha val="5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  <p:sp>
        <p:nvSpPr>
          <p:cNvPr id="544" name="Google Shape;544;p44"/>
          <p:cNvSpPr/>
          <p:nvPr/>
        </p:nvSpPr>
        <p:spPr>
          <a:xfrm>
            <a:off x="138775" y="4069475"/>
            <a:ext cx="4073100" cy="2707500"/>
          </a:xfrm>
          <a:prstGeom prst="rect">
            <a:avLst/>
          </a:prstGeom>
          <a:solidFill>
            <a:srgbClr val="FFE599">
              <a:alpha val="40000"/>
            </a:srgbClr>
          </a:solidFill>
          <a:ln>
            <a:noFill/>
          </a:ln>
        </p:spPr>
        <p:txBody>
          <a:bodyPr anchorCtr="0" anchor="ctr" bIns="88925" lIns="88925" spcFirstLastPara="1" rIns="88925" wrap="square" tIns="88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5"/>
          <p:cNvSpPr/>
          <p:nvPr/>
        </p:nvSpPr>
        <p:spPr>
          <a:xfrm>
            <a:off x="1192411" y="3029481"/>
            <a:ext cx="5495100" cy="819900"/>
          </a:xfrm>
          <a:prstGeom prst="roundRect">
            <a:avLst>
              <a:gd fmla="val 16667" name="adj"/>
            </a:avLst>
          </a:prstGeom>
          <a:solidFill>
            <a:srgbClr val="E87E2B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3"/>
          </a:p>
        </p:txBody>
      </p:sp>
      <p:sp>
        <p:nvSpPr>
          <p:cNvPr id="552" name="Google Shape;552;p45"/>
          <p:cNvSpPr/>
          <p:nvPr/>
        </p:nvSpPr>
        <p:spPr>
          <a:xfrm>
            <a:off x="1192411" y="3849404"/>
            <a:ext cx="5495100" cy="819900"/>
          </a:xfrm>
          <a:prstGeom prst="roundRect">
            <a:avLst>
              <a:gd fmla="val 16667" name="adj"/>
            </a:avLst>
          </a:prstGeom>
          <a:solidFill>
            <a:srgbClr val="023F54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3"/>
          </a:p>
        </p:txBody>
      </p:sp>
      <p:sp>
        <p:nvSpPr>
          <p:cNvPr id="553" name="Google Shape;553;p45"/>
          <p:cNvSpPr/>
          <p:nvPr/>
        </p:nvSpPr>
        <p:spPr>
          <a:xfrm>
            <a:off x="1192411" y="4669327"/>
            <a:ext cx="5495100" cy="819900"/>
          </a:xfrm>
          <a:prstGeom prst="roundRect">
            <a:avLst>
              <a:gd fmla="val 16667" name="adj"/>
            </a:avLst>
          </a:prstGeom>
          <a:solidFill>
            <a:srgbClr val="656D75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3"/>
          </a:p>
        </p:txBody>
      </p:sp>
      <p:sp>
        <p:nvSpPr>
          <p:cNvPr id="554" name="Google Shape;554;p45"/>
          <p:cNvSpPr txBox="1"/>
          <p:nvPr/>
        </p:nvSpPr>
        <p:spPr>
          <a:xfrm>
            <a:off x="1192411" y="3029481"/>
            <a:ext cx="5495100" cy="819900"/>
          </a:xfrm>
          <a:prstGeom prst="rect">
            <a:avLst/>
          </a:prstGeom>
          <a:solidFill>
            <a:srgbClr val="DE8E07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3">
                <a:solidFill>
                  <a:srgbClr val="FFFFFF"/>
                </a:solidFill>
              </a:rPr>
              <a:t>miRNAs</a:t>
            </a:r>
            <a:endParaRPr sz="2163">
              <a:solidFill>
                <a:srgbClr val="FFFFFF"/>
              </a:solidFill>
            </a:endParaRPr>
          </a:p>
        </p:txBody>
      </p:sp>
      <p:sp>
        <p:nvSpPr>
          <p:cNvPr id="555" name="Google Shape;555;p45"/>
          <p:cNvSpPr txBox="1"/>
          <p:nvPr/>
        </p:nvSpPr>
        <p:spPr>
          <a:xfrm>
            <a:off x="1192411" y="3849404"/>
            <a:ext cx="5495100" cy="819900"/>
          </a:xfrm>
          <a:prstGeom prst="rect">
            <a:avLst/>
          </a:prstGeom>
          <a:solidFill>
            <a:srgbClr val="2D69A9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3">
                <a:solidFill>
                  <a:srgbClr val="FFFFFF"/>
                </a:solidFill>
              </a:rPr>
              <a:t>lncRNAs</a:t>
            </a:r>
            <a:endParaRPr sz="2163">
              <a:solidFill>
                <a:srgbClr val="FFFFFF"/>
              </a:solidFill>
            </a:endParaRPr>
          </a:p>
        </p:txBody>
      </p:sp>
      <p:sp>
        <p:nvSpPr>
          <p:cNvPr id="556" name="Google Shape;556;p45"/>
          <p:cNvSpPr txBox="1"/>
          <p:nvPr/>
        </p:nvSpPr>
        <p:spPr>
          <a:xfrm>
            <a:off x="1192411" y="4669327"/>
            <a:ext cx="5495100" cy="819900"/>
          </a:xfrm>
          <a:prstGeom prst="rect">
            <a:avLst/>
          </a:prstGeom>
          <a:solidFill>
            <a:srgbClr val="138F60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3">
                <a:solidFill>
                  <a:srgbClr val="FFFFFF"/>
                </a:solidFill>
              </a:rPr>
              <a:t>GbM</a:t>
            </a:r>
            <a:endParaRPr sz="2163">
              <a:solidFill>
                <a:srgbClr val="FFFFFF"/>
              </a:solidFill>
            </a:endParaRPr>
          </a:p>
        </p:txBody>
      </p:sp>
      <p:grpSp>
        <p:nvGrpSpPr>
          <p:cNvPr id="557" name="Google Shape;557;p45"/>
          <p:cNvGrpSpPr/>
          <p:nvPr/>
        </p:nvGrpSpPr>
        <p:grpSpPr>
          <a:xfrm>
            <a:off x="1192425" y="1389644"/>
            <a:ext cx="5495087" cy="819951"/>
            <a:chOff x="602600" y="1255438"/>
            <a:chExt cx="4572000" cy="682213"/>
          </a:xfrm>
        </p:grpSpPr>
        <p:sp>
          <p:nvSpPr>
            <p:cNvPr id="558" name="Google Shape;558;p45"/>
            <p:cNvSpPr/>
            <p:nvPr/>
          </p:nvSpPr>
          <p:spPr>
            <a:xfrm>
              <a:off x="602600" y="1255438"/>
              <a:ext cx="4572000" cy="682200"/>
            </a:xfrm>
            <a:prstGeom prst="roundRect">
              <a:avLst>
                <a:gd fmla="val 16667" name="adj"/>
              </a:avLst>
            </a:prstGeom>
            <a:solidFill>
              <a:srgbClr val="CC79A7"/>
            </a:solidFill>
            <a:ln>
              <a:noFill/>
            </a:ln>
          </p:spPr>
          <p:txBody>
            <a:bodyPr anchorCtr="0" anchor="ctr" bIns="109875" lIns="109875" spcFirstLastPara="1" rIns="109875" wrap="square" tIns="109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83"/>
            </a:p>
          </p:txBody>
        </p:sp>
        <p:sp>
          <p:nvSpPr>
            <p:cNvPr id="559" name="Google Shape;559;p45"/>
            <p:cNvSpPr txBox="1"/>
            <p:nvPr/>
          </p:nvSpPr>
          <p:spPr>
            <a:xfrm>
              <a:off x="602600" y="1255450"/>
              <a:ext cx="4572000" cy="682200"/>
            </a:xfrm>
            <a:prstGeom prst="rect">
              <a:avLst/>
            </a:prstGeom>
            <a:solidFill>
              <a:srgbClr val="CC79A7"/>
            </a:solidFill>
            <a:ln>
              <a:noFill/>
            </a:ln>
          </p:spPr>
          <p:txBody>
            <a:bodyPr anchorCtr="0" anchor="ctr" bIns="109875" lIns="109875" spcFirstLastPara="1" rIns="109875" wrap="square" tIns="109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63">
                  <a:solidFill>
                    <a:srgbClr val="FFFFFF"/>
                  </a:solidFill>
                </a:rPr>
                <a:t>gene</a:t>
              </a:r>
              <a:endParaRPr sz="2163">
                <a:solidFill>
                  <a:srgbClr val="FFFFFF"/>
                </a:solidFill>
              </a:endParaRPr>
            </a:p>
          </p:txBody>
        </p:sp>
      </p:grpSp>
      <p:cxnSp>
        <p:nvCxnSpPr>
          <p:cNvPr id="560" name="Google Shape;560;p45"/>
          <p:cNvCxnSpPr/>
          <p:nvPr/>
        </p:nvCxnSpPr>
        <p:spPr>
          <a:xfrm>
            <a:off x="5960009" y="940733"/>
            <a:ext cx="8400" cy="4997400"/>
          </a:xfrm>
          <a:prstGeom prst="straightConnector1">
            <a:avLst/>
          </a:prstGeom>
          <a:noFill/>
          <a:ln cap="flat" cmpd="sng" w="34350">
            <a:solidFill>
              <a:srgbClr val="000A2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1" name="Google Shape;561;p45"/>
          <p:cNvSpPr txBox="1"/>
          <p:nvPr/>
        </p:nvSpPr>
        <p:spPr>
          <a:xfrm>
            <a:off x="713075" y="6055950"/>
            <a:ext cx="10765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23F54"/>
                </a:solidFill>
              </a:rPr>
              <a:t>L</a:t>
            </a:r>
            <a:r>
              <a:rPr lang="en-US" sz="1800">
                <a:solidFill>
                  <a:srgbClr val="023F54"/>
                </a:solidFill>
              </a:rPr>
              <a:t>eave-one-colony-out CV				Stability selection to identify best-supported predictors	</a:t>
            </a:r>
            <a:endParaRPr sz="1800">
              <a:solidFill>
                <a:srgbClr val="023F5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3F54"/>
              </a:solidFill>
            </a:endParaRPr>
          </a:p>
        </p:txBody>
      </p:sp>
      <p:sp>
        <p:nvSpPr>
          <p:cNvPr id="562" name="Google Shape;562;p45"/>
          <p:cNvSpPr/>
          <p:nvPr/>
        </p:nvSpPr>
        <p:spPr>
          <a:xfrm flipH="1" rot="5400000">
            <a:off x="6446308" y="2441961"/>
            <a:ext cx="2596200" cy="1032900"/>
          </a:xfrm>
          <a:prstGeom prst="uturnArrow">
            <a:avLst>
              <a:gd fmla="val 7005" name="adj1"/>
              <a:gd fmla="val 14677" name="adj2"/>
              <a:gd fmla="val 14282" name="adj3"/>
              <a:gd fmla="val 43750" name="adj4"/>
              <a:gd fmla="val 100000" name="adj5"/>
            </a:avLst>
          </a:prstGeom>
          <a:solidFill>
            <a:srgbClr val="000A23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3"/>
          </a:p>
        </p:txBody>
      </p:sp>
      <p:sp>
        <p:nvSpPr>
          <p:cNvPr id="563" name="Google Shape;563;p45"/>
          <p:cNvSpPr/>
          <p:nvPr/>
        </p:nvSpPr>
        <p:spPr>
          <a:xfrm>
            <a:off x="7162221" y="3029481"/>
            <a:ext cx="65700" cy="2459700"/>
          </a:xfrm>
          <a:prstGeom prst="rect">
            <a:avLst/>
          </a:prstGeom>
          <a:solidFill>
            <a:srgbClr val="000A23"/>
          </a:solidFill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3"/>
          </a:p>
        </p:txBody>
      </p:sp>
      <p:sp>
        <p:nvSpPr>
          <p:cNvPr id="564" name="Google Shape;564;p45"/>
          <p:cNvSpPr txBox="1"/>
          <p:nvPr/>
        </p:nvSpPr>
        <p:spPr>
          <a:xfrm>
            <a:off x="8260850" y="2209600"/>
            <a:ext cx="27384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9875" lIns="109875" spcFirstLastPara="1" rIns="109875" wrap="square" tIns="109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3">
                <a:solidFill>
                  <a:srgbClr val="023F54"/>
                </a:solidFill>
              </a:rPr>
              <a:t>Elastic Net Regression model (per-gene)</a:t>
            </a:r>
            <a:endParaRPr sz="1803">
              <a:solidFill>
                <a:srgbClr val="023F54"/>
              </a:solidFill>
            </a:endParaRPr>
          </a:p>
        </p:txBody>
      </p:sp>
      <p:sp>
        <p:nvSpPr>
          <p:cNvPr id="565" name="Google Shape;565;p45"/>
          <p:cNvSpPr txBox="1"/>
          <p:nvPr/>
        </p:nvSpPr>
        <p:spPr>
          <a:xfrm rot="5400000">
            <a:off x="5731407" y="4022327"/>
            <a:ext cx="24057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875" lIns="109875" spcFirstLastPara="1" rIns="109875" wrap="square" tIns="109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3">
                <a:solidFill>
                  <a:srgbClr val="023F54"/>
                </a:solidFill>
              </a:rPr>
              <a:t>Scaled</a:t>
            </a:r>
            <a:endParaRPr sz="2163">
              <a:solidFill>
                <a:srgbClr val="023F54"/>
              </a:solidFill>
            </a:endParaRPr>
          </a:p>
        </p:txBody>
      </p:sp>
      <p:sp>
        <p:nvSpPr>
          <p:cNvPr id="566" name="Google Shape;566;p45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Applied an </a:t>
            </a: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Elastic Net Regression to predict expression from epigenetic state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46" title="boxplot_OOF_R2_cor_by_layer.png"/>
          <p:cNvPicPr preferRelativeResize="0"/>
          <p:nvPr/>
        </p:nvPicPr>
        <p:blipFill rotWithShape="1">
          <a:blip r:embed="rId3">
            <a:alphaModFix/>
          </a:blip>
          <a:srcRect b="14581" l="0" r="0" t="0"/>
          <a:stretch/>
        </p:blipFill>
        <p:spPr>
          <a:xfrm>
            <a:off x="867200" y="1079750"/>
            <a:ext cx="7698702" cy="56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6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Many genes are well-predicted, across physiological function</a:t>
            </a:r>
            <a:endParaRPr b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7242513" y="960746"/>
            <a:ext cx="952500" cy="45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6"/>
          <p:cNvSpPr/>
          <p:nvPr/>
        </p:nvSpPr>
        <p:spPr>
          <a:xfrm>
            <a:off x="1449948" y="1127375"/>
            <a:ext cx="5773500" cy="3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6"/>
          <p:cNvSpPr txBox="1"/>
          <p:nvPr/>
        </p:nvSpPr>
        <p:spPr>
          <a:xfrm>
            <a:off x="7377423" y="5335271"/>
            <a:ext cx="857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n=100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6"/>
          <p:cNvSpPr txBox="1"/>
          <p:nvPr/>
        </p:nvSpPr>
        <p:spPr>
          <a:xfrm>
            <a:off x="838650" y="913975"/>
            <a:ext cx="49791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domains</a:t>
            </a:r>
            <a:endParaRPr/>
          </a:p>
        </p:txBody>
      </p:sp>
      <p:sp>
        <p:nvSpPr>
          <p:cNvPr id="578" name="Google Shape;578;p46"/>
          <p:cNvSpPr/>
          <p:nvPr/>
        </p:nvSpPr>
        <p:spPr>
          <a:xfrm>
            <a:off x="7310750" y="828800"/>
            <a:ext cx="1255200" cy="5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9" name="Google Shape;579;p46"/>
          <p:cNvGrpSpPr/>
          <p:nvPr/>
        </p:nvGrpSpPr>
        <p:grpSpPr>
          <a:xfrm>
            <a:off x="9422425" y="1804041"/>
            <a:ext cx="2557783" cy="3972745"/>
            <a:chOff x="9422425" y="1804041"/>
            <a:chExt cx="2557783" cy="3972745"/>
          </a:xfrm>
        </p:grpSpPr>
        <p:grpSp>
          <p:nvGrpSpPr>
            <p:cNvPr id="580" name="Google Shape;580;p46"/>
            <p:cNvGrpSpPr/>
            <p:nvPr/>
          </p:nvGrpSpPr>
          <p:grpSpPr>
            <a:xfrm>
              <a:off x="9502226" y="2542625"/>
              <a:ext cx="1850803" cy="3234160"/>
              <a:chOff x="9488413" y="2684441"/>
              <a:chExt cx="1850803" cy="3234160"/>
            </a:xfrm>
          </p:grpSpPr>
          <p:grpSp>
            <p:nvGrpSpPr>
              <p:cNvPr id="581" name="Google Shape;581;p46"/>
              <p:cNvGrpSpPr/>
              <p:nvPr/>
            </p:nvGrpSpPr>
            <p:grpSpPr>
              <a:xfrm>
                <a:off x="9488413" y="3140728"/>
                <a:ext cx="1850803" cy="2777874"/>
                <a:chOff x="7391676" y="1322410"/>
                <a:chExt cx="1574214" cy="2362740"/>
              </a:xfrm>
            </p:grpSpPr>
            <p:pic>
              <p:nvPicPr>
                <p:cNvPr id="582" name="Google Shape;582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8" l="33569" r="51569" t="87201"/>
                <a:stretch/>
              </p:blipFill>
              <p:spPr>
                <a:xfrm>
                  <a:off x="7419500" y="1322410"/>
                  <a:ext cx="1187176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83" name="Google Shape;583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65531" r="19608" t="92351"/>
                <a:stretch/>
              </p:blipFill>
              <p:spPr>
                <a:xfrm>
                  <a:off x="7419691" y="3216701"/>
                  <a:ext cx="1187176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84" name="Google Shape;584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797" l="52224" r="35506" t="87201"/>
                <a:stretch/>
              </p:blipFill>
              <p:spPr>
                <a:xfrm>
                  <a:off x="7418749" y="2078360"/>
                  <a:ext cx="980102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85" name="Google Shape;585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7" l="65179" r="18736" t="87851"/>
                <a:stretch/>
              </p:blipFill>
              <p:spPr>
                <a:xfrm>
                  <a:off x="7391676" y="2874201"/>
                  <a:ext cx="1284899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86" name="Google Shape;586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997" l="52390" r="33958" t="92351"/>
                <a:stretch/>
              </p:blipFill>
              <p:spPr>
                <a:xfrm>
                  <a:off x="7433049" y="2434187"/>
                  <a:ext cx="1090551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87" name="Google Shape;58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34081" r="47083" t="92351"/>
                <a:stretch/>
              </p:blipFill>
              <p:spPr>
                <a:xfrm>
                  <a:off x="7461215" y="1695480"/>
                  <a:ext cx="1504674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588" name="Google Shape;588;p46"/>
              <p:cNvPicPr preferRelativeResize="0"/>
              <p:nvPr/>
            </p:nvPicPr>
            <p:blipFill rotWithShape="1">
              <a:blip r:embed="rId4">
                <a:alphaModFix/>
              </a:blip>
              <a:srcRect b="4347" l="24816" r="66025" t="89907"/>
              <a:stretch/>
            </p:blipFill>
            <p:spPr>
              <a:xfrm>
                <a:off x="9872625" y="2684441"/>
                <a:ext cx="844274" cy="453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89" name="Google Shape;589;p46"/>
            <p:cNvSpPr/>
            <p:nvPr/>
          </p:nvSpPr>
          <p:spPr>
            <a:xfrm>
              <a:off x="9743881" y="1944096"/>
              <a:ext cx="64500" cy="60600"/>
            </a:xfrm>
            <a:prstGeom prst="ellipse">
              <a:avLst/>
            </a:prstGeom>
            <a:solidFill>
              <a:srgbClr val="929292"/>
            </a:solidFill>
            <a:ln cap="flat" cmpd="sng" w="9525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6"/>
            <p:cNvSpPr txBox="1"/>
            <p:nvPr/>
          </p:nvSpPr>
          <p:spPr>
            <a:xfrm>
              <a:off x="9931168" y="1804041"/>
              <a:ext cx="10497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gene</a:t>
              </a:r>
              <a:endParaRPr/>
            </a:p>
          </p:txBody>
        </p:sp>
        <p:sp>
          <p:nvSpPr>
            <p:cNvPr id="591" name="Google Shape;591;p46"/>
            <p:cNvSpPr txBox="1"/>
            <p:nvPr/>
          </p:nvSpPr>
          <p:spPr>
            <a:xfrm>
              <a:off x="9614850" y="2766626"/>
              <a:ext cx="145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34343"/>
                  </a:solidFill>
                </a:rPr>
                <a:t>(literature + GO)</a:t>
              </a:r>
              <a:endParaRPr sz="1200">
                <a:solidFill>
                  <a:srgbClr val="434343"/>
                </a:solidFill>
              </a:endParaRPr>
            </a:p>
          </p:txBody>
        </p:sp>
        <p:sp>
          <p:nvSpPr>
            <p:cNvPr id="592" name="Google Shape;592;p46"/>
            <p:cNvSpPr/>
            <p:nvPr/>
          </p:nvSpPr>
          <p:spPr>
            <a:xfrm>
              <a:off x="9422425" y="1804050"/>
              <a:ext cx="2483700" cy="3940200"/>
            </a:xfrm>
            <a:prstGeom prst="rect">
              <a:avLst/>
            </a:prstGeom>
            <a:noFill/>
            <a:ln cap="flat" cmpd="sng" w="19050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6"/>
            <p:cNvSpPr txBox="1"/>
            <p:nvPr/>
          </p:nvSpPr>
          <p:spPr>
            <a:xfrm>
              <a:off x="11307908" y="3031217"/>
              <a:ext cx="672300" cy="25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n=83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n=112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n=27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n=100</a:t>
              </a:r>
              <a:endParaRPr sz="1300"/>
            </a:p>
          </p:txBody>
        </p:sp>
      </p:grpSp>
      <p:sp>
        <p:nvSpPr>
          <p:cNvPr id="594" name="Google Shape;594;p46"/>
          <p:cNvSpPr/>
          <p:nvPr/>
        </p:nvSpPr>
        <p:spPr>
          <a:xfrm>
            <a:off x="9525000" y="5249325"/>
            <a:ext cx="2349600" cy="4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6"/>
          <p:cNvSpPr/>
          <p:nvPr/>
        </p:nvSpPr>
        <p:spPr>
          <a:xfrm>
            <a:off x="550325" y="963075"/>
            <a:ext cx="7419000" cy="575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6"/>
          <p:cNvSpPr/>
          <p:nvPr/>
        </p:nvSpPr>
        <p:spPr>
          <a:xfrm>
            <a:off x="9800425" y="2605025"/>
            <a:ext cx="10788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7" title="boxplot_OOF_R2_cor_by_layer.png"/>
          <p:cNvPicPr preferRelativeResize="0"/>
          <p:nvPr/>
        </p:nvPicPr>
        <p:blipFill rotWithShape="1">
          <a:blip r:embed="rId3">
            <a:alphaModFix/>
          </a:blip>
          <a:srcRect b="14581" l="0" r="0" t="0"/>
          <a:stretch/>
        </p:blipFill>
        <p:spPr>
          <a:xfrm>
            <a:off x="867200" y="1079750"/>
            <a:ext cx="7698702" cy="56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7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Many genes are well-predicted, across physiological function</a:t>
            </a:r>
            <a:endParaRPr b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7242513" y="960746"/>
            <a:ext cx="952500" cy="45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7"/>
          <p:cNvSpPr/>
          <p:nvPr/>
        </p:nvSpPr>
        <p:spPr>
          <a:xfrm>
            <a:off x="1449948" y="1127375"/>
            <a:ext cx="5773500" cy="3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7"/>
          <p:cNvSpPr txBox="1"/>
          <p:nvPr/>
        </p:nvSpPr>
        <p:spPr>
          <a:xfrm>
            <a:off x="7377423" y="5335271"/>
            <a:ext cx="857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n=100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7"/>
          <p:cNvSpPr txBox="1"/>
          <p:nvPr/>
        </p:nvSpPr>
        <p:spPr>
          <a:xfrm>
            <a:off x="838650" y="913975"/>
            <a:ext cx="49791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functions</a:t>
            </a:r>
            <a:endParaRPr/>
          </a:p>
        </p:txBody>
      </p:sp>
      <p:sp>
        <p:nvSpPr>
          <p:cNvPr id="608" name="Google Shape;608;p47"/>
          <p:cNvSpPr/>
          <p:nvPr/>
        </p:nvSpPr>
        <p:spPr>
          <a:xfrm>
            <a:off x="7310750" y="828800"/>
            <a:ext cx="1255200" cy="5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47"/>
          <p:cNvGrpSpPr/>
          <p:nvPr/>
        </p:nvGrpSpPr>
        <p:grpSpPr>
          <a:xfrm>
            <a:off x="9422425" y="1804041"/>
            <a:ext cx="2557783" cy="3972745"/>
            <a:chOff x="9422425" y="1804041"/>
            <a:chExt cx="2557783" cy="3972745"/>
          </a:xfrm>
        </p:grpSpPr>
        <p:grpSp>
          <p:nvGrpSpPr>
            <p:cNvPr id="610" name="Google Shape;610;p47"/>
            <p:cNvGrpSpPr/>
            <p:nvPr/>
          </p:nvGrpSpPr>
          <p:grpSpPr>
            <a:xfrm>
              <a:off x="9502226" y="2542625"/>
              <a:ext cx="1850803" cy="3234160"/>
              <a:chOff x="9488413" y="2684441"/>
              <a:chExt cx="1850803" cy="3234160"/>
            </a:xfrm>
          </p:grpSpPr>
          <p:grpSp>
            <p:nvGrpSpPr>
              <p:cNvPr id="611" name="Google Shape;611;p47"/>
              <p:cNvGrpSpPr/>
              <p:nvPr/>
            </p:nvGrpSpPr>
            <p:grpSpPr>
              <a:xfrm>
                <a:off x="9488413" y="3140728"/>
                <a:ext cx="1850803" cy="2777874"/>
                <a:chOff x="7391676" y="1322410"/>
                <a:chExt cx="1574214" cy="2362740"/>
              </a:xfrm>
            </p:grpSpPr>
            <p:pic>
              <p:nvPicPr>
                <p:cNvPr id="612" name="Google Shape;612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8" l="33569" r="51569" t="87201"/>
                <a:stretch/>
              </p:blipFill>
              <p:spPr>
                <a:xfrm>
                  <a:off x="7419500" y="1322410"/>
                  <a:ext cx="1187176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3" name="Google Shape;613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65531" r="19608" t="92351"/>
                <a:stretch/>
              </p:blipFill>
              <p:spPr>
                <a:xfrm>
                  <a:off x="7419691" y="3216701"/>
                  <a:ext cx="1187176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4" name="Google Shape;614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797" l="52224" r="35506" t="87201"/>
                <a:stretch/>
              </p:blipFill>
              <p:spPr>
                <a:xfrm>
                  <a:off x="7418749" y="2078360"/>
                  <a:ext cx="980102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5" name="Google Shape;615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7" l="65179" r="18736" t="87851"/>
                <a:stretch/>
              </p:blipFill>
              <p:spPr>
                <a:xfrm>
                  <a:off x="7391676" y="2874201"/>
                  <a:ext cx="1284899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6" name="Google Shape;616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997" l="52390" r="33958" t="92351"/>
                <a:stretch/>
              </p:blipFill>
              <p:spPr>
                <a:xfrm>
                  <a:off x="7433049" y="2434187"/>
                  <a:ext cx="1090551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17" name="Google Shape;617;p4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34081" r="47083" t="92351"/>
                <a:stretch/>
              </p:blipFill>
              <p:spPr>
                <a:xfrm>
                  <a:off x="7461215" y="1695480"/>
                  <a:ext cx="1504674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18" name="Google Shape;618;p47"/>
              <p:cNvPicPr preferRelativeResize="0"/>
              <p:nvPr/>
            </p:nvPicPr>
            <p:blipFill rotWithShape="1">
              <a:blip r:embed="rId4">
                <a:alphaModFix/>
              </a:blip>
              <a:srcRect b="4347" l="24816" r="66025" t="89907"/>
              <a:stretch/>
            </p:blipFill>
            <p:spPr>
              <a:xfrm>
                <a:off x="9872625" y="2684441"/>
                <a:ext cx="844274" cy="453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9" name="Google Shape;619;p47"/>
            <p:cNvSpPr/>
            <p:nvPr/>
          </p:nvSpPr>
          <p:spPr>
            <a:xfrm>
              <a:off x="9743881" y="1944096"/>
              <a:ext cx="64500" cy="60600"/>
            </a:xfrm>
            <a:prstGeom prst="ellipse">
              <a:avLst/>
            </a:prstGeom>
            <a:solidFill>
              <a:srgbClr val="929292"/>
            </a:solidFill>
            <a:ln cap="flat" cmpd="sng" w="9525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7"/>
            <p:cNvSpPr txBox="1"/>
            <p:nvPr/>
          </p:nvSpPr>
          <p:spPr>
            <a:xfrm>
              <a:off x="9931168" y="1804041"/>
              <a:ext cx="10497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gene</a:t>
              </a:r>
              <a:endParaRPr/>
            </a:p>
          </p:txBody>
        </p:sp>
        <p:sp>
          <p:nvSpPr>
            <p:cNvPr id="621" name="Google Shape;621;p47"/>
            <p:cNvSpPr txBox="1"/>
            <p:nvPr/>
          </p:nvSpPr>
          <p:spPr>
            <a:xfrm>
              <a:off x="9614850" y="2766626"/>
              <a:ext cx="145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34343"/>
                  </a:solidFill>
                </a:rPr>
                <a:t>(literature + GO)</a:t>
              </a:r>
              <a:endParaRPr sz="1200">
                <a:solidFill>
                  <a:srgbClr val="434343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9422425" y="1804050"/>
              <a:ext cx="2483700" cy="3940200"/>
            </a:xfrm>
            <a:prstGeom prst="rect">
              <a:avLst/>
            </a:prstGeom>
            <a:noFill/>
            <a:ln cap="flat" cmpd="sng" w="19050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47"/>
            <p:cNvSpPr txBox="1"/>
            <p:nvPr/>
          </p:nvSpPr>
          <p:spPr>
            <a:xfrm>
              <a:off x="11307908" y="3031217"/>
              <a:ext cx="672300" cy="25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n=83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n=112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n=27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n=100</a:t>
              </a:r>
              <a:endParaRPr sz="1300"/>
            </a:p>
          </p:txBody>
        </p:sp>
      </p:grpSp>
      <p:sp>
        <p:nvSpPr>
          <p:cNvPr id="624" name="Google Shape;624;p47"/>
          <p:cNvSpPr/>
          <p:nvPr/>
        </p:nvSpPr>
        <p:spPr>
          <a:xfrm>
            <a:off x="9525000" y="5249325"/>
            <a:ext cx="2349600" cy="4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7"/>
          <p:cNvSpPr/>
          <p:nvPr/>
        </p:nvSpPr>
        <p:spPr>
          <a:xfrm>
            <a:off x="9800425" y="2605025"/>
            <a:ext cx="10788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48" title="boxplot_OOF_R2_cor_by_layer.png"/>
          <p:cNvPicPr preferRelativeResize="0"/>
          <p:nvPr/>
        </p:nvPicPr>
        <p:blipFill rotWithShape="1">
          <a:blip r:embed="rId3">
            <a:alphaModFix/>
          </a:blip>
          <a:srcRect b="14581" l="0" r="0" t="0"/>
          <a:stretch/>
        </p:blipFill>
        <p:spPr>
          <a:xfrm>
            <a:off x="867200" y="1079750"/>
            <a:ext cx="7698702" cy="56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8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Many genes are well-predicted, across physiological function</a:t>
            </a:r>
            <a:endParaRPr b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7242513" y="960746"/>
            <a:ext cx="952500" cy="45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8"/>
          <p:cNvSpPr/>
          <p:nvPr/>
        </p:nvSpPr>
        <p:spPr>
          <a:xfrm>
            <a:off x="1449948" y="1127375"/>
            <a:ext cx="5773500" cy="3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8"/>
          <p:cNvSpPr txBox="1"/>
          <p:nvPr/>
        </p:nvSpPr>
        <p:spPr>
          <a:xfrm>
            <a:off x="7377423" y="5335271"/>
            <a:ext cx="8574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n=100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8"/>
          <p:cNvSpPr txBox="1"/>
          <p:nvPr/>
        </p:nvSpPr>
        <p:spPr>
          <a:xfrm>
            <a:off x="838650" y="913975"/>
            <a:ext cx="49791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</a:t>
            </a:r>
            <a:r>
              <a:rPr lang="en-US">
                <a:solidFill>
                  <a:schemeClr val="dk1"/>
                </a:solidFill>
              </a:rPr>
              <a:t>functions</a:t>
            </a:r>
            <a:endParaRPr/>
          </a:p>
        </p:txBody>
      </p:sp>
      <p:sp>
        <p:nvSpPr>
          <p:cNvPr id="637" name="Google Shape;637;p48"/>
          <p:cNvSpPr/>
          <p:nvPr/>
        </p:nvSpPr>
        <p:spPr>
          <a:xfrm>
            <a:off x="7310750" y="828800"/>
            <a:ext cx="1255200" cy="54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8"/>
          <p:cNvSpPr/>
          <p:nvPr/>
        </p:nvSpPr>
        <p:spPr>
          <a:xfrm>
            <a:off x="1185725" y="1631825"/>
            <a:ext cx="6497100" cy="1689900"/>
          </a:xfrm>
          <a:prstGeom prst="roundRect">
            <a:avLst>
              <a:gd fmla="val 7974" name="adj"/>
            </a:avLst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9" name="Google Shape;639;p48"/>
          <p:cNvGrpSpPr/>
          <p:nvPr/>
        </p:nvGrpSpPr>
        <p:grpSpPr>
          <a:xfrm>
            <a:off x="9422425" y="1804041"/>
            <a:ext cx="2557783" cy="3972745"/>
            <a:chOff x="9422425" y="1804041"/>
            <a:chExt cx="2557783" cy="3972745"/>
          </a:xfrm>
        </p:grpSpPr>
        <p:grpSp>
          <p:nvGrpSpPr>
            <p:cNvPr id="640" name="Google Shape;640;p48"/>
            <p:cNvGrpSpPr/>
            <p:nvPr/>
          </p:nvGrpSpPr>
          <p:grpSpPr>
            <a:xfrm>
              <a:off x="9502226" y="2542625"/>
              <a:ext cx="1850803" cy="3234160"/>
              <a:chOff x="9488413" y="2684441"/>
              <a:chExt cx="1850803" cy="3234160"/>
            </a:xfrm>
          </p:grpSpPr>
          <p:grpSp>
            <p:nvGrpSpPr>
              <p:cNvPr id="641" name="Google Shape;641;p48"/>
              <p:cNvGrpSpPr/>
              <p:nvPr/>
            </p:nvGrpSpPr>
            <p:grpSpPr>
              <a:xfrm>
                <a:off x="9488413" y="3140728"/>
                <a:ext cx="1850803" cy="2777874"/>
                <a:chOff x="7391676" y="1322410"/>
                <a:chExt cx="1574214" cy="2362740"/>
              </a:xfrm>
            </p:grpSpPr>
            <p:pic>
              <p:nvPicPr>
                <p:cNvPr id="642" name="Google Shape;642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8" l="33569" r="51569" t="87201"/>
                <a:stretch/>
              </p:blipFill>
              <p:spPr>
                <a:xfrm>
                  <a:off x="7419500" y="1322410"/>
                  <a:ext cx="1187176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3" name="Google Shape;643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65531" r="19608" t="92351"/>
                <a:stretch/>
              </p:blipFill>
              <p:spPr>
                <a:xfrm>
                  <a:off x="7419691" y="3216701"/>
                  <a:ext cx="1187176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4" name="Google Shape;64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797" l="52224" r="35506" t="87201"/>
                <a:stretch/>
              </p:blipFill>
              <p:spPr>
                <a:xfrm>
                  <a:off x="7418749" y="2078360"/>
                  <a:ext cx="980102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5" name="Google Shape;645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7" l="65179" r="18736" t="87851"/>
                <a:stretch/>
              </p:blipFill>
              <p:spPr>
                <a:xfrm>
                  <a:off x="7391676" y="2874201"/>
                  <a:ext cx="1284899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6" name="Google Shape;646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997" l="52390" r="33958" t="92351"/>
                <a:stretch/>
              </p:blipFill>
              <p:spPr>
                <a:xfrm>
                  <a:off x="7433049" y="2434187"/>
                  <a:ext cx="1090551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47" name="Google Shape;647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34081" r="47083" t="92351"/>
                <a:stretch/>
              </p:blipFill>
              <p:spPr>
                <a:xfrm>
                  <a:off x="7461215" y="1695480"/>
                  <a:ext cx="1504674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48" name="Google Shape;648;p48"/>
              <p:cNvPicPr preferRelativeResize="0"/>
              <p:nvPr/>
            </p:nvPicPr>
            <p:blipFill rotWithShape="1">
              <a:blip r:embed="rId4">
                <a:alphaModFix/>
              </a:blip>
              <a:srcRect b="4347" l="24816" r="66025" t="89907"/>
              <a:stretch/>
            </p:blipFill>
            <p:spPr>
              <a:xfrm>
                <a:off x="9872625" y="2684441"/>
                <a:ext cx="844274" cy="453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49" name="Google Shape;649;p48"/>
            <p:cNvSpPr/>
            <p:nvPr/>
          </p:nvSpPr>
          <p:spPr>
            <a:xfrm>
              <a:off x="9743881" y="1944096"/>
              <a:ext cx="64500" cy="60600"/>
            </a:xfrm>
            <a:prstGeom prst="ellipse">
              <a:avLst/>
            </a:prstGeom>
            <a:solidFill>
              <a:srgbClr val="929292"/>
            </a:solidFill>
            <a:ln cap="flat" cmpd="sng" w="9525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48"/>
            <p:cNvSpPr txBox="1"/>
            <p:nvPr/>
          </p:nvSpPr>
          <p:spPr>
            <a:xfrm>
              <a:off x="9931168" y="1804041"/>
              <a:ext cx="10497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gene</a:t>
              </a:r>
              <a:endParaRPr/>
            </a:p>
          </p:txBody>
        </p:sp>
        <p:sp>
          <p:nvSpPr>
            <p:cNvPr id="651" name="Google Shape;651;p48"/>
            <p:cNvSpPr txBox="1"/>
            <p:nvPr/>
          </p:nvSpPr>
          <p:spPr>
            <a:xfrm>
              <a:off x="9614850" y="2766626"/>
              <a:ext cx="145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34343"/>
                  </a:solidFill>
                </a:rPr>
                <a:t>(literature + GO)</a:t>
              </a:r>
              <a:endParaRPr sz="1200">
                <a:solidFill>
                  <a:srgbClr val="434343"/>
                </a:solidFill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9422425" y="1804050"/>
              <a:ext cx="2483700" cy="3940200"/>
            </a:xfrm>
            <a:prstGeom prst="rect">
              <a:avLst/>
            </a:prstGeom>
            <a:noFill/>
            <a:ln cap="flat" cmpd="sng" w="19050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48"/>
            <p:cNvSpPr txBox="1"/>
            <p:nvPr/>
          </p:nvSpPr>
          <p:spPr>
            <a:xfrm>
              <a:off x="11307908" y="3031217"/>
              <a:ext cx="672300" cy="25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n=83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n=112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n=27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n=100</a:t>
              </a:r>
              <a:endParaRPr sz="1300"/>
            </a:p>
          </p:txBody>
        </p:sp>
      </p:grpSp>
      <p:sp>
        <p:nvSpPr>
          <p:cNvPr id="654" name="Google Shape;654;p48"/>
          <p:cNvSpPr/>
          <p:nvPr/>
        </p:nvSpPr>
        <p:spPr>
          <a:xfrm>
            <a:off x="9525000" y="5249325"/>
            <a:ext cx="2349600" cy="45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8"/>
          <p:cNvSpPr/>
          <p:nvPr/>
        </p:nvSpPr>
        <p:spPr>
          <a:xfrm>
            <a:off x="9800425" y="2605025"/>
            <a:ext cx="10788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49" title="boxplot_OOF_R2_cor_by_layer.png"/>
          <p:cNvPicPr preferRelativeResize="0"/>
          <p:nvPr/>
        </p:nvPicPr>
        <p:blipFill rotWithShape="1">
          <a:blip r:embed="rId3">
            <a:alphaModFix/>
          </a:blip>
          <a:srcRect b="14581" l="0" r="0" t="0"/>
          <a:stretch/>
        </p:blipFill>
        <p:spPr>
          <a:xfrm>
            <a:off x="867200" y="1079750"/>
            <a:ext cx="7698702" cy="56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Expression predictability differs by physiological function</a:t>
            </a:r>
            <a:endParaRPr b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663" name="Google Shape;663;p49"/>
          <p:cNvCxnSpPr/>
          <p:nvPr/>
        </p:nvCxnSpPr>
        <p:spPr>
          <a:xfrm flipH="1">
            <a:off x="7246518" y="971908"/>
            <a:ext cx="16200" cy="527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49"/>
          <p:cNvSpPr/>
          <p:nvPr/>
        </p:nvSpPr>
        <p:spPr>
          <a:xfrm>
            <a:off x="7242513" y="960746"/>
            <a:ext cx="952500" cy="45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9"/>
          <p:cNvSpPr/>
          <p:nvPr/>
        </p:nvSpPr>
        <p:spPr>
          <a:xfrm>
            <a:off x="1449948" y="1127375"/>
            <a:ext cx="5773500" cy="30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9"/>
          <p:cNvSpPr/>
          <p:nvPr/>
        </p:nvSpPr>
        <p:spPr>
          <a:xfrm rot="5400000">
            <a:off x="7198750" y="1018166"/>
            <a:ext cx="85800" cy="1141500"/>
          </a:xfrm>
          <a:prstGeom prst="leftBracket">
            <a:avLst>
              <a:gd fmla="val 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9"/>
          <p:cNvSpPr txBox="1"/>
          <p:nvPr/>
        </p:nvSpPr>
        <p:spPr>
          <a:xfrm>
            <a:off x="6963702" y="1252361"/>
            <a:ext cx="555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00" lIns="102400" spcFirstLastPara="1" rIns="102400" wrap="square" tIns="10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40"/>
              <a:t>**</a:t>
            </a:r>
            <a:endParaRPr b="1" sz="2240"/>
          </a:p>
        </p:txBody>
      </p:sp>
      <p:sp>
        <p:nvSpPr>
          <p:cNvPr id="668" name="Google Shape;668;p49"/>
          <p:cNvSpPr/>
          <p:nvPr/>
        </p:nvSpPr>
        <p:spPr>
          <a:xfrm rot="5400000">
            <a:off x="6074425" y="-274082"/>
            <a:ext cx="85800" cy="3370200"/>
          </a:xfrm>
          <a:prstGeom prst="leftBracket">
            <a:avLst>
              <a:gd fmla="val 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9"/>
          <p:cNvSpPr txBox="1"/>
          <p:nvPr/>
        </p:nvSpPr>
        <p:spPr>
          <a:xfrm>
            <a:off x="5817878" y="1079602"/>
            <a:ext cx="5559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2400" lIns="102400" spcFirstLastPara="1" rIns="102400" wrap="square" tIns="10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40"/>
              <a:t>***</a:t>
            </a:r>
            <a:endParaRPr b="1" sz="2240"/>
          </a:p>
        </p:txBody>
      </p:sp>
      <p:sp>
        <p:nvSpPr>
          <p:cNvPr id="670" name="Google Shape;670;p49"/>
          <p:cNvSpPr txBox="1"/>
          <p:nvPr/>
        </p:nvSpPr>
        <p:spPr>
          <a:xfrm>
            <a:off x="838650" y="913975"/>
            <a:ext cx="49791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</a:t>
            </a:r>
            <a:r>
              <a:rPr lang="en-US">
                <a:solidFill>
                  <a:schemeClr val="dk1"/>
                </a:solidFill>
              </a:rPr>
              <a:t>functions</a:t>
            </a:r>
            <a:endParaRPr/>
          </a:p>
        </p:txBody>
      </p:sp>
      <p:grpSp>
        <p:nvGrpSpPr>
          <p:cNvPr id="671" name="Google Shape;671;p49"/>
          <p:cNvGrpSpPr/>
          <p:nvPr/>
        </p:nvGrpSpPr>
        <p:grpSpPr>
          <a:xfrm>
            <a:off x="9422425" y="1804041"/>
            <a:ext cx="2557783" cy="3972745"/>
            <a:chOff x="9422425" y="1804041"/>
            <a:chExt cx="2557783" cy="3972745"/>
          </a:xfrm>
        </p:grpSpPr>
        <p:grpSp>
          <p:nvGrpSpPr>
            <p:cNvPr id="672" name="Google Shape;672;p49"/>
            <p:cNvGrpSpPr/>
            <p:nvPr/>
          </p:nvGrpSpPr>
          <p:grpSpPr>
            <a:xfrm>
              <a:off x="9502226" y="2542625"/>
              <a:ext cx="1850803" cy="3234160"/>
              <a:chOff x="9488413" y="2684441"/>
              <a:chExt cx="1850803" cy="3234160"/>
            </a:xfrm>
          </p:grpSpPr>
          <p:grpSp>
            <p:nvGrpSpPr>
              <p:cNvPr id="673" name="Google Shape;673;p49"/>
              <p:cNvGrpSpPr/>
              <p:nvPr/>
            </p:nvGrpSpPr>
            <p:grpSpPr>
              <a:xfrm>
                <a:off x="9488413" y="3140728"/>
                <a:ext cx="1850803" cy="2777874"/>
                <a:chOff x="7391676" y="1322410"/>
                <a:chExt cx="1574214" cy="2362740"/>
              </a:xfrm>
            </p:grpSpPr>
            <p:pic>
              <p:nvPicPr>
                <p:cNvPr id="674" name="Google Shape;674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8" l="33569" r="51569" t="87201"/>
                <a:stretch/>
              </p:blipFill>
              <p:spPr>
                <a:xfrm>
                  <a:off x="7419500" y="1322410"/>
                  <a:ext cx="1187176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5" name="Google Shape;675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65531" r="19608" t="92351"/>
                <a:stretch/>
              </p:blipFill>
              <p:spPr>
                <a:xfrm>
                  <a:off x="7419691" y="3216701"/>
                  <a:ext cx="1187176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6" name="Google Shape;676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797" l="52224" r="35506" t="87201"/>
                <a:stretch/>
              </p:blipFill>
              <p:spPr>
                <a:xfrm>
                  <a:off x="7418749" y="2078360"/>
                  <a:ext cx="980102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7" name="Google Shape;677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7147" l="65179" r="18736" t="87851"/>
                <a:stretch/>
              </p:blipFill>
              <p:spPr>
                <a:xfrm>
                  <a:off x="7391676" y="2874201"/>
                  <a:ext cx="1284899" cy="3425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8" name="Google Shape;678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1997" l="52390" r="33958" t="92351"/>
                <a:stretch/>
              </p:blipFill>
              <p:spPr>
                <a:xfrm>
                  <a:off x="7433049" y="2434187"/>
                  <a:ext cx="1090551" cy="38697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679" name="Google Shape;679;p4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807" l="34081" r="47083" t="92351"/>
                <a:stretch/>
              </p:blipFill>
              <p:spPr>
                <a:xfrm>
                  <a:off x="7461215" y="1695480"/>
                  <a:ext cx="1504674" cy="468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680" name="Google Shape;680;p49"/>
              <p:cNvPicPr preferRelativeResize="0"/>
              <p:nvPr/>
            </p:nvPicPr>
            <p:blipFill rotWithShape="1">
              <a:blip r:embed="rId4">
                <a:alphaModFix/>
              </a:blip>
              <a:srcRect b="4347" l="24816" r="66025" t="89907"/>
              <a:stretch/>
            </p:blipFill>
            <p:spPr>
              <a:xfrm>
                <a:off x="9872625" y="2684441"/>
                <a:ext cx="844274" cy="4539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81" name="Google Shape;681;p49"/>
            <p:cNvSpPr/>
            <p:nvPr/>
          </p:nvSpPr>
          <p:spPr>
            <a:xfrm>
              <a:off x="9743881" y="1944096"/>
              <a:ext cx="64500" cy="60600"/>
            </a:xfrm>
            <a:prstGeom prst="ellipse">
              <a:avLst/>
            </a:prstGeom>
            <a:solidFill>
              <a:srgbClr val="929292"/>
            </a:solidFill>
            <a:ln cap="flat" cmpd="sng" w="9525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9"/>
            <p:cNvSpPr txBox="1"/>
            <p:nvPr/>
          </p:nvSpPr>
          <p:spPr>
            <a:xfrm>
              <a:off x="9931168" y="1804041"/>
              <a:ext cx="10497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gene</a:t>
              </a:r>
              <a:endParaRPr/>
            </a:p>
          </p:txBody>
        </p:sp>
        <p:sp>
          <p:nvSpPr>
            <p:cNvPr id="683" name="Google Shape;683;p49"/>
            <p:cNvSpPr txBox="1"/>
            <p:nvPr/>
          </p:nvSpPr>
          <p:spPr>
            <a:xfrm>
              <a:off x="9614850" y="2766626"/>
              <a:ext cx="1455600" cy="2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34343"/>
                  </a:solidFill>
                </a:rPr>
                <a:t>(literature + GO)</a:t>
              </a:r>
              <a:endParaRPr sz="1200">
                <a:solidFill>
                  <a:srgbClr val="434343"/>
                </a:solidFill>
              </a:endParaRPr>
            </a:p>
          </p:txBody>
        </p:sp>
        <p:sp>
          <p:nvSpPr>
            <p:cNvPr id="684" name="Google Shape;684;p49"/>
            <p:cNvSpPr/>
            <p:nvPr/>
          </p:nvSpPr>
          <p:spPr>
            <a:xfrm>
              <a:off x="9422425" y="1804050"/>
              <a:ext cx="2483700" cy="3940200"/>
            </a:xfrm>
            <a:prstGeom prst="rect">
              <a:avLst/>
            </a:prstGeom>
            <a:noFill/>
            <a:ln cap="flat" cmpd="sng" w="19050">
              <a:solidFill>
                <a:srgbClr val="7070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9"/>
            <p:cNvSpPr txBox="1"/>
            <p:nvPr/>
          </p:nvSpPr>
          <p:spPr>
            <a:xfrm>
              <a:off x="11307908" y="3031217"/>
              <a:ext cx="672300" cy="258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n=83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n=112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n=27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n=36</a:t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n=100</a:t>
              </a:r>
              <a:endParaRPr sz="1300"/>
            </a:p>
          </p:txBody>
        </p:sp>
      </p:grpSp>
      <p:sp>
        <p:nvSpPr>
          <p:cNvPr id="686" name="Google Shape;686;p49"/>
          <p:cNvSpPr/>
          <p:nvPr/>
        </p:nvSpPr>
        <p:spPr>
          <a:xfrm>
            <a:off x="9800425" y="2605025"/>
            <a:ext cx="1078800" cy="27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0"/>
          <p:cNvSpPr/>
          <p:nvPr/>
        </p:nvSpPr>
        <p:spPr>
          <a:xfrm>
            <a:off x="593050" y="1385441"/>
            <a:ext cx="5440800" cy="19659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0"/>
          <p:cNvSpPr/>
          <p:nvPr/>
        </p:nvSpPr>
        <p:spPr>
          <a:xfrm>
            <a:off x="3375438" y="3728466"/>
            <a:ext cx="5440800" cy="19659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0"/>
          <p:cNvSpPr/>
          <p:nvPr/>
        </p:nvSpPr>
        <p:spPr>
          <a:xfrm>
            <a:off x="6200925" y="1385450"/>
            <a:ext cx="5440800" cy="19659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0"/>
          <p:cNvSpPr/>
          <p:nvPr/>
        </p:nvSpPr>
        <p:spPr>
          <a:xfrm>
            <a:off x="-10" y="7135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0"/>
          <p:cNvSpPr/>
          <p:nvPr/>
        </p:nvSpPr>
        <p:spPr>
          <a:xfrm>
            <a:off x="885686" y="1663237"/>
            <a:ext cx="777300" cy="777300"/>
          </a:xfrm>
          <a:prstGeom prst="ellipse">
            <a:avLst/>
          </a:prstGeom>
          <a:solidFill>
            <a:srgbClr val="02696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1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7458138" y="1683411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2000">
                <a:solidFill>
                  <a:srgbClr val="8E6B33"/>
                </a:solidFill>
                <a:latin typeface="Georgia"/>
                <a:ea typeface="Georgia"/>
                <a:cs typeface="Georgia"/>
                <a:sym typeface="Georgia"/>
              </a:rPr>
              <a:t>Epigenome predicts expression</a:t>
            </a:r>
            <a:endParaRPr b="0" i="0" sz="2000" u="none" cap="none" strike="noStrike">
              <a:solidFill>
                <a:srgbClr val="8E6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7458138" y="2250339"/>
            <a:ext cx="393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300"/>
              <a:buFont typeface="Calibri"/>
              <a:buNone/>
            </a:pPr>
            <a:r>
              <a:rPr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Integrated e</a:t>
            </a:r>
            <a:r>
              <a:rPr b="0" i="0" lang="en-US" sz="17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pigenetic context stably predicts expression for a subset of</a:t>
            </a:r>
            <a:r>
              <a:rPr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 functionally-relevant </a:t>
            </a:r>
            <a:r>
              <a:rPr b="0" i="0" lang="en-US" sz="17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genes 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6493521" y="1677433"/>
            <a:ext cx="777300" cy="777300"/>
          </a:xfrm>
          <a:prstGeom prst="ellipse">
            <a:avLst/>
          </a:prstGeom>
          <a:solidFill>
            <a:srgbClr val="8E6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2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00" name="Google Shape;700;p50"/>
          <p:cNvSpPr/>
          <p:nvPr/>
        </p:nvSpPr>
        <p:spPr>
          <a:xfrm>
            <a:off x="1850247" y="1675383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1600"/>
              <a:buFont typeface="Georgia"/>
              <a:buNone/>
            </a:pPr>
            <a:r>
              <a:rPr b="1" lang="en-US" sz="2000">
                <a:solidFill>
                  <a:srgbClr val="026962"/>
                </a:solidFill>
                <a:latin typeface="Georgia"/>
                <a:ea typeface="Georgia"/>
                <a:cs typeface="Georgia"/>
                <a:sym typeface="Georgia"/>
              </a:rPr>
              <a:t>Epigenetic layers interact</a:t>
            </a:r>
            <a:endParaRPr b="1" sz="2000">
              <a:solidFill>
                <a:srgbClr val="02696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1" name="Google Shape;701;p50"/>
          <p:cNvSpPr/>
          <p:nvPr/>
        </p:nvSpPr>
        <p:spPr>
          <a:xfrm>
            <a:off x="1850247" y="2242311"/>
            <a:ext cx="393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300"/>
              <a:buFont typeface="Calibri"/>
              <a:buNone/>
            </a:pPr>
            <a:r>
              <a:rPr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First evidence of cross-layer epigenetic regulation in cnidarians (epi-miRNAs and ceRNAs), emphasize </a:t>
            </a:r>
            <a:r>
              <a:rPr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we need to consider epigenome </a:t>
            </a:r>
            <a:r>
              <a:rPr i="1"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integratively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0"/>
          <p:cNvSpPr/>
          <p:nvPr/>
        </p:nvSpPr>
        <p:spPr>
          <a:xfrm>
            <a:off x="3668048" y="4021074"/>
            <a:ext cx="777300" cy="777300"/>
          </a:xfrm>
          <a:prstGeom prst="ellipse">
            <a:avLst/>
          </a:prstGeom>
          <a:solidFill>
            <a:srgbClr val="65B9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+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703" name="Google Shape;703;p50"/>
          <p:cNvSpPr/>
          <p:nvPr/>
        </p:nvSpPr>
        <p:spPr>
          <a:xfrm>
            <a:off x="4655600" y="4002786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2000">
                <a:solidFill>
                  <a:srgbClr val="448682"/>
                </a:solidFill>
                <a:latin typeface="Georgia"/>
                <a:ea typeface="Georgia"/>
                <a:cs typeface="Georgia"/>
                <a:sym typeface="Georgia"/>
              </a:rPr>
              <a:t>Contribution is domain-specific</a:t>
            </a:r>
            <a:endParaRPr b="0" i="0" sz="2000" u="none" cap="none" strike="noStrike">
              <a:solidFill>
                <a:srgbClr val="4486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0"/>
          <p:cNvSpPr/>
          <p:nvPr/>
        </p:nvSpPr>
        <p:spPr>
          <a:xfrm>
            <a:off x="4655600" y="4569714"/>
            <a:ext cx="393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300"/>
              <a:buFont typeface="Calibri"/>
              <a:buNone/>
            </a:pPr>
            <a:r>
              <a:rPr lang="en-US" sz="17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Predictability is significantly enriched in growth- and respiration-associated genes</a:t>
            </a:r>
            <a:endParaRPr sz="1700">
              <a:solidFill>
                <a:srgbClr val="5D73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1"/>
          <p:cNvSpPr/>
          <p:nvPr/>
        </p:nvSpPr>
        <p:spPr>
          <a:xfrm>
            <a:off x="548650" y="1832119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1"/>
          <p:cNvSpPr/>
          <p:nvPr/>
        </p:nvSpPr>
        <p:spPr>
          <a:xfrm>
            <a:off x="6574450" y="1824545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1"/>
          <p:cNvSpPr/>
          <p:nvPr/>
        </p:nvSpPr>
        <p:spPr>
          <a:xfrm>
            <a:off x="-10" y="-1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Wh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at’s next?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51"/>
          <p:cNvSpPr/>
          <p:nvPr/>
        </p:nvSpPr>
        <p:spPr>
          <a:xfrm>
            <a:off x="841248" y="2124714"/>
            <a:ext cx="777300" cy="777300"/>
          </a:xfrm>
          <a:prstGeom prst="ellipse">
            <a:avLst/>
          </a:prstGeom>
          <a:solidFill>
            <a:srgbClr val="0A95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1"/>
          <p:cNvSpPr/>
          <p:nvPr/>
        </p:nvSpPr>
        <p:spPr>
          <a:xfrm>
            <a:off x="1803885" y="22847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0A958B"/>
                </a:solidFill>
                <a:latin typeface="Georgia"/>
                <a:ea typeface="Georgia"/>
                <a:cs typeface="Georgia"/>
                <a:sym typeface="Georgia"/>
              </a:rPr>
              <a:t>Tie features to physiology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1803875" y="2770075"/>
            <a:ext cx="34212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Evaluate relationships between epigenetic state and physiological function, plasticity, etc.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1"/>
          <p:cNvSpPr/>
          <p:nvPr/>
        </p:nvSpPr>
        <p:spPr>
          <a:xfrm>
            <a:off x="6906527" y="2039314"/>
            <a:ext cx="777300" cy="777300"/>
          </a:xfrm>
          <a:prstGeom prst="ellipse">
            <a:avLst/>
          </a:prstGeom>
          <a:solidFill>
            <a:srgbClr val="8282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1"/>
          <p:cNvSpPr/>
          <p:nvPr/>
        </p:nvSpPr>
        <p:spPr>
          <a:xfrm>
            <a:off x="7955264" y="21993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825C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82825C"/>
                </a:solidFill>
                <a:latin typeface="Georgia"/>
                <a:ea typeface="Georgia"/>
                <a:cs typeface="Georgia"/>
                <a:sym typeface="Georgia"/>
              </a:rPr>
              <a:t>Bring in the symbiont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1"/>
          <p:cNvSpPr/>
          <p:nvPr/>
        </p:nvSpPr>
        <p:spPr>
          <a:xfrm>
            <a:off x="7955275" y="2770069"/>
            <a:ext cx="3243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Test whether and how the epigenome mediates symbiotic relationship and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1"/>
          <p:cNvSpPr/>
          <p:nvPr/>
        </p:nvSpPr>
        <p:spPr>
          <a:xfrm>
            <a:off x="548650" y="4297013"/>
            <a:ext cx="11064300" cy="1646700"/>
          </a:xfrm>
          <a:prstGeom prst="rect">
            <a:avLst/>
          </a:prstGeom>
          <a:solidFill>
            <a:srgbClr val="0A1E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1"/>
          <p:cNvSpPr/>
          <p:nvPr/>
        </p:nvSpPr>
        <p:spPr>
          <a:xfrm>
            <a:off x="882405" y="4454253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1900">
                <a:solidFill>
                  <a:srgbClr val="61C9C1"/>
                </a:solidFill>
                <a:latin typeface="Georgia"/>
                <a:ea typeface="Georgia"/>
                <a:cs typeface="Georgia"/>
                <a:sym typeface="Georgia"/>
              </a:rPr>
              <a:t>This is all important because…</a:t>
            </a:r>
            <a:endParaRPr b="0" i="0" sz="1900" u="none" cap="none" strike="noStrike">
              <a:solidFill>
                <a:srgbClr val="61C9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1"/>
          <p:cNvSpPr/>
          <p:nvPr/>
        </p:nvSpPr>
        <p:spPr>
          <a:xfrm>
            <a:off x="882405" y="5035340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7EDED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E7EDED"/>
                </a:solidFill>
                <a:latin typeface="Calibri"/>
                <a:ea typeface="Calibri"/>
                <a:cs typeface="Calibri"/>
                <a:sym typeface="Calibri"/>
              </a:rPr>
              <a:t>Understanding how molecular foundations support physiology and symbiosis will be critical to predicting organismal response and population persistence under climate change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3843" y="50"/>
            <a:ext cx="1375800" cy="13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1"/>
          <p:cNvSpPr txBox="1"/>
          <p:nvPr/>
        </p:nvSpPr>
        <p:spPr>
          <a:xfrm>
            <a:off x="10572750" y="1357325"/>
            <a:ext cx="1638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Huffmeyer et al, 2026</a:t>
            </a:r>
            <a:endParaRPr sz="1200"/>
          </a:p>
        </p:txBody>
      </p:sp>
      <p:sp>
        <p:nvSpPr>
          <p:cNvPr id="724" name="Google Shape;724;p51"/>
          <p:cNvSpPr txBox="1"/>
          <p:nvPr/>
        </p:nvSpPr>
        <p:spPr>
          <a:xfrm>
            <a:off x="8284825" y="203900"/>
            <a:ext cx="23127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Surprise!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We </a:t>
            </a:r>
            <a:r>
              <a:rPr i="1" lang="en-US" sz="1600"/>
              <a:t>also</a:t>
            </a:r>
            <a:r>
              <a:rPr lang="en-US" sz="1600"/>
              <a:t> have symbiont and physiology data!</a:t>
            </a:r>
            <a:endParaRPr sz="1600"/>
          </a:p>
        </p:txBody>
      </p:sp>
      <p:sp>
        <p:nvSpPr>
          <p:cNvPr id="725" name="Google Shape;725;p51"/>
          <p:cNvSpPr/>
          <p:nvPr/>
        </p:nvSpPr>
        <p:spPr>
          <a:xfrm>
            <a:off x="171750" y="1670773"/>
            <a:ext cx="11711100" cy="47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1"/>
          <p:cNvSpPr/>
          <p:nvPr/>
        </p:nvSpPr>
        <p:spPr>
          <a:xfrm>
            <a:off x="8153675" y="12200"/>
            <a:ext cx="4038000" cy="180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2"/>
          <p:cNvSpPr/>
          <p:nvPr/>
        </p:nvSpPr>
        <p:spPr>
          <a:xfrm>
            <a:off x="548650" y="1832119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2"/>
          <p:cNvSpPr/>
          <p:nvPr/>
        </p:nvSpPr>
        <p:spPr>
          <a:xfrm>
            <a:off x="6574450" y="1824545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2"/>
          <p:cNvSpPr/>
          <p:nvPr/>
        </p:nvSpPr>
        <p:spPr>
          <a:xfrm>
            <a:off x="-10" y="-1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Wh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at’s next?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2"/>
          <p:cNvSpPr/>
          <p:nvPr/>
        </p:nvSpPr>
        <p:spPr>
          <a:xfrm>
            <a:off x="841248" y="2124714"/>
            <a:ext cx="777300" cy="777300"/>
          </a:xfrm>
          <a:prstGeom prst="ellipse">
            <a:avLst/>
          </a:prstGeom>
          <a:solidFill>
            <a:srgbClr val="0A95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2"/>
          <p:cNvSpPr/>
          <p:nvPr/>
        </p:nvSpPr>
        <p:spPr>
          <a:xfrm>
            <a:off x="1803885" y="22847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0A958B"/>
                </a:solidFill>
                <a:latin typeface="Georgia"/>
                <a:ea typeface="Georgia"/>
                <a:cs typeface="Georgia"/>
                <a:sym typeface="Georgia"/>
              </a:rPr>
              <a:t>Tie features to physiology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2"/>
          <p:cNvSpPr/>
          <p:nvPr/>
        </p:nvSpPr>
        <p:spPr>
          <a:xfrm>
            <a:off x="1803875" y="2770075"/>
            <a:ext cx="3421200" cy="13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Evaluate relationships between epigenetic state and physiological function, plasticity, etc.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6906527" y="2039314"/>
            <a:ext cx="777300" cy="777300"/>
          </a:xfrm>
          <a:prstGeom prst="ellipse">
            <a:avLst/>
          </a:prstGeom>
          <a:solidFill>
            <a:srgbClr val="8282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2"/>
          <p:cNvSpPr/>
          <p:nvPr/>
        </p:nvSpPr>
        <p:spPr>
          <a:xfrm>
            <a:off x="7955264" y="21993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825C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82825C"/>
                </a:solidFill>
                <a:latin typeface="Georgia"/>
                <a:ea typeface="Georgia"/>
                <a:cs typeface="Georgia"/>
                <a:sym typeface="Georgia"/>
              </a:rPr>
              <a:t>Bring in the symbiont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7955275" y="2770069"/>
            <a:ext cx="3243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Test whether and how the epigenome mediates symbiotic relationship and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548650" y="4297013"/>
            <a:ext cx="11064300" cy="1646700"/>
          </a:xfrm>
          <a:prstGeom prst="rect">
            <a:avLst/>
          </a:prstGeom>
          <a:solidFill>
            <a:srgbClr val="0A1E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2"/>
          <p:cNvSpPr/>
          <p:nvPr/>
        </p:nvSpPr>
        <p:spPr>
          <a:xfrm>
            <a:off x="882405" y="4454253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1900">
                <a:solidFill>
                  <a:srgbClr val="61C9C1"/>
                </a:solidFill>
                <a:latin typeface="Georgia"/>
                <a:ea typeface="Georgia"/>
                <a:cs typeface="Georgia"/>
                <a:sym typeface="Georgia"/>
              </a:rPr>
              <a:t>This is all important because…</a:t>
            </a:r>
            <a:endParaRPr b="0" i="0" sz="1900" u="none" cap="none" strike="noStrike">
              <a:solidFill>
                <a:srgbClr val="61C9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2"/>
          <p:cNvSpPr/>
          <p:nvPr/>
        </p:nvSpPr>
        <p:spPr>
          <a:xfrm>
            <a:off x="882405" y="5035340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7EDED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E7EDED"/>
                </a:solidFill>
                <a:latin typeface="Calibri"/>
                <a:ea typeface="Calibri"/>
                <a:cs typeface="Calibri"/>
                <a:sym typeface="Calibri"/>
              </a:rPr>
              <a:t>Understanding how molecular foundations support physiology and symbiosis will be critical to predicting organismal response and population persistence under climate change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4" name="Google Shape;74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3843" y="50"/>
            <a:ext cx="1375800" cy="13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2"/>
          <p:cNvSpPr txBox="1"/>
          <p:nvPr/>
        </p:nvSpPr>
        <p:spPr>
          <a:xfrm>
            <a:off x="10572750" y="1357325"/>
            <a:ext cx="1638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Huffmeyer et al, 2026</a:t>
            </a:r>
            <a:endParaRPr sz="1200"/>
          </a:p>
        </p:txBody>
      </p:sp>
      <p:sp>
        <p:nvSpPr>
          <p:cNvPr id="746" name="Google Shape;746;p52"/>
          <p:cNvSpPr txBox="1"/>
          <p:nvPr/>
        </p:nvSpPr>
        <p:spPr>
          <a:xfrm>
            <a:off x="7955275" y="158750"/>
            <a:ext cx="2642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Surprise!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We </a:t>
            </a:r>
            <a:r>
              <a:rPr i="1" lang="en-US" sz="1800"/>
              <a:t>also</a:t>
            </a:r>
            <a:r>
              <a:rPr lang="en-US" sz="1800"/>
              <a:t> have symbiont and physiology data!</a:t>
            </a:r>
            <a:endParaRPr sz="1800"/>
          </a:p>
        </p:txBody>
      </p:sp>
      <p:sp>
        <p:nvSpPr>
          <p:cNvPr id="747" name="Google Shape;747;p52"/>
          <p:cNvSpPr/>
          <p:nvPr/>
        </p:nvSpPr>
        <p:spPr>
          <a:xfrm>
            <a:off x="171750" y="1670773"/>
            <a:ext cx="11711100" cy="470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3"/>
          <p:cNvSpPr/>
          <p:nvPr/>
        </p:nvSpPr>
        <p:spPr>
          <a:xfrm>
            <a:off x="548650" y="1832119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3"/>
          <p:cNvSpPr/>
          <p:nvPr/>
        </p:nvSpPr>
        <p:spPr>
          <a:xfrm>
            <a:off x="6574450" y="1824545"/>
            <a:ext cx="5038500" cy="21810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3"/>
          <p:cNvSpPr/>
          <p:nvPr/>
        </p:nvSpPr>
        <p:spPr>
          <a:xfrm>
            <a:off x="-10" y="-10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Wh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at’s next?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3"/>
          <p:cNvSpPr/>
          <p:nvPr/>
        </p:nvSpPr>
        <p:spPr>
          <a:xfrm>
            <a:off x="841248" y="2124714"/>
            <a:ext cx="777300" cy="777300"/>
          </a:xfrm>
          <a:prstGeom prst="ellipse">
            <a:avLst/>
          </a:prstGeom>
          <a:solidFill>
            <a:srgbClr val="0A95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3"/>
          <p:cNvSpPr/>
          <p:nvPr/>
        </p:nvSpPr>
        <p:spPr>
          <a:xfrm>
            <a:off x="1803885" y="22847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0A958B"/>
                </a:solidFill>
                <a:latin typeface="Georgia"/>
                <a:ea typeface="Georgia"/>
                <a:cs typeface="Georgia"/>
                <a:sym typeface="Georgia"/>
              </a:rPr>
              <a:t>Tie features to physiology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3"/>
          <p:cNvSpPr/>
          <p:nvPr/>
        </p:nvSpPr>
        <p:spPr>
          <a:xfrm>
            <a:off x="1803875" y="2689575"/>
            <a:ext cx="34212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Evaluate relationships between</a:t>
            </a: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 epigenetic state and physiological function, plasticity, etc.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3"/>
          <p:cNvSpPr/>
          <p:nvPr/>
        </p:nvSpPr>
        <p:spPr>
          <a:xfrm>
            <a:off x="6906527" y="2039314"/>
            <a:ext cx="777300" cy="777300"/>
          </a:xfrm>
          <a:prstGeom prst="ellipse">
            <a:avLst/>
          </a:prstGeom>
          <a:solidFill>
            <a:srgbClr val="8282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3"/>
          <p:cNvSpPr/>
          <p:nvPr/>
        </p:nvSpPr>
        <p:spPr>
          <a:xfrm>
            <a:off x="7955264" y="219936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825C"/>
              </a:buClr>
              <a:buSzPts val="1500"/>
              <a:buFont typeface="Georgia"/>
              <a:buNone/>
            </a:pPr>
            <a:r>
              <a:rPr b="1" i="0" lang="en-US" sz="1800" u="none" cap="none" strike="noStrike">
                <a:solidFill>
                  <a:srgbClr val="82825C"/>
                </a:solidFill>
                <a:latin typeface="Georgia"/>
                <a:ea typeface="Georgia"/>
                <a:cs typeface="Georgia"/>
                <a:sym typeface="Georgia"/>
              </a:rPr>
              <a:t>Bring in the symbiont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3"/>
          <p:cNvSpPr/>
          <p:nvPr/>
        </p:nvSpPr>
        <p:spPr>
          <a:xfrm>
            <a:off x="7955275" y="2699388"/>
            <a:ext cx="3243000" cy="13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Test whether and how the epigenome mediates symbiotic relationship and function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3"/>
          <p:cNvSpPr/>
          <p:nvPr/>
        </p:nvSpPr>
        <p:spPr>
          <a:xfrm>
            <a:off x="548650" y="4297013"/>
            <a:ext cx="11064300" cy="1646700"/>
          </a:xfrm>
          <a:prstGeom prst="rect">
            <a:avLst/>
          </a:prstGeom>
          <a:solidFill>
            <a:srgbClr val="0A1E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3"/>
          <p:cNvSpPr/>
          <p:nvPr/>
        </p:nvSpPr>
        <p:spPr>
          <a:xfrm>
            <a:off x="882405" y="4454253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1900">
                <a:solidFill>
                  <a:srgbClr val="61C9C1"/>
                </a:solidFill>
                <a:latin typeface="Georgia"/>
                <a:ea typeface="Georgia"/>
                <a:cs typeface="Georgia"/>
                <a:sym typeface="Georgia"/>
              </a:rPr>
              <a:t>This is all important because…</a:t>
            </a:r>
            <a:endParaRPr b="0" i="0" sz="1900" u="none" cap="none" strike="noStrike">
              <a:solidFill>
                <a:srgbClr val="61C9C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3"/>
          <p:cNvSpPr/>
          <p:nvPr/>
        </p:nvSpPr>
        <p:spPr>
          <a:xfrm>
            <a:off x="882405" y="5035340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7EDED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E7EDED"/>
                </a:solidFill>
                <a:latin typeface="Calibri"/>
                <a:ea typeface="Calibri"/>
                <a:cs typeface="Calibri"/>
                <a:sym typeface="Calibri"/>
              </a:rPr>
              <a:t>Understanding how molecular foundations support physiology and symbiosis will be critical to predicting organismal response and population persistence under climate change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5" name="Google Shape;76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3843" y="50"/>
            <a:ext cx="1375800" cy="137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53"/>
          <p:cNvSpPr txBox="1"/>
          <p:nvPr/>
        </p:nvSpPr>
        <p:spPr>
          <a:xfrm>
            <a:off x="10572750" y="1357325"/>
            <a:ext cx="16380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Huffmeyer et al, 2026</a:t>
            </a:r>
            <a:endParaRPr sz="1200"/>
          </a:p>
        </p:txBody>
      </p:sp>
      <p:sp>
        <p:nvSpPr>
          <p:cNvPr id="767" name="Google Shape;767;p53"/>
          <p:cNvSpPr txBox="1"/>
          <p:nvPr/>
        </p:nvSpPr>
        <p:spPr>
          <a:xfrm>
            <a:off x="7955275" y="158750"/>
            <a:ext cx="26424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Surprise!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We </a:t>
            </a:r>
            <a:r>
              <a:rPr i="1" lang="en-US" sz="1800"/>
              <a:t>also</a:t>
            </a:r>
            <a:r>
              <a:rPr lang="en-US" sz="1800"/>
              <a:t> have symbiont and physiology data!</a:t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614" y="584895"/>
            <a:ext cx="1891879" cy="89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275" y="1313506"/>
            <a:ext cx="1891879" cy="93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5845" y="2105819"/>
            <a:ext cx="1891881" cy="10641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5" name="Google Shape;775;p54"/>
          <p:cNvGrpSpPr/>
          <p:nvPr/>
        </p:nvGrpSpPr>
        <p:grpSpPr>
          <a:xfrm>
            <a:off x="3074697" y="118934"/>
            <a:ext cx="2041008" cy="893067"/>
            <a:chOff x="6834050" y="178319"/>
            <a:chExt cx="2475750" cy="1083163"/>
          </a:xfrm>
        </p:grpSpPr>
        <p:pic>
          <p:nvPicPr>
            <p:cNvPr id="776" name="Google Shape;776;p5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834050" y="178331"/>
              <a:ext cx="1083150" cy="1083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54"/>
            <p:cNvSpPr txBox="1"/>
            <p:nvPr/>
          </p:nvSpPr>
          <p:spPr>
            <a:xfrm>
              <a:off x="7917200" y="178319"/>
              <a:ext cx="1392600" cy="99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5375" lIns="75375" spcFirstLastPara="1" rIns="75375" wrap="square" tIns="7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79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Roberts </a:t>
              </a:r>
              <a:endParaRPr b="1" sz="197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79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Lab</a:t>
              </a:r>
              <a:endParaRPr b="1" sz="197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78" name="Google Shape;778;p54"/>
          <p:cNvSpPr txBox="1"/>
          <p:nvPr>
            <p:ph type="title"/>
          </p:nvPr>
        </p:nvSpPr>
        <p:spPr>
          <a:xfrm>
            <a:off x="0" y="-83634"/>
            <a:ext cx="113604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Thank you!</a:t>
            </a:r>
            <a:endParaRPr b="1"/>
          </a:p>
        </p:txBody>
      </p:sp>
      <p:sp>
        <p:nvSpPr>
          <p:cNvPr id="779" name="Google Shape;779;p54"/>
          <p:cNvSpPr txBox="1"/>
          <p:nvPr/>
        </p:nvSpPr>
        <p:spPr>
          <a:xfrm>
            <a:off x="6089938" y="3192833"/>
            <a:ext cx="1856700" cy="6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</a:rPr>
              <a:t>Sam White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780" name="Google Shape;780;p54"/>
          <p:cNvSpPr txBox="1"/>
          <p:nvPr/>
        </p:nvSpPr>
        <p:spPr>
          <a:xfrm>
            <a:off x="4233187" y="3170000"/>
            <a:ext cx="18567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</a:rPr>
              <a:t>Jill Ashey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781" name="Google Shape;781;p54"/>
          <p:cNvSpPr txBox="1"/>
          <p:nvPr/>
        </p:nvSpPr>
        <p:spPr>
          <a:xfrm>
            <a:off x="2307038" y="3199200"/>
            <a:ext cx="221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2"/>
                </a:solidFill>
              </a:rPr>
              <a:t>Ariana Huffmeyer</a:t>
            </a:r>
            <a:endParaRPr sz="1900">
              <a:solidFill>
                <a:schemeClr val="dk2"/>
              </a:solidFill>
            </a:endParaRPr>
          </a:p>
        </p:txBody>
      </p:sp>
      <p:pic>
        <p:nvPicPr>
          <p:cNvPr id="782" name="Google Shape;782;p54"/>
          <p:cNvPicPr preferRelativeResize="0"/>
          <p:nvPr/>
        </p:nvPicPr>
        <p:blipFill rotWithShape="1">
          <a:blip r:embed="rId7">
            <a:alphaModFix/>
          </a:blip>
          <a:srcRect b="23615" l="0" r="0" t="17713"/>
          <a:stretch/>
        </p:blipFill>
        <p:spPr>
          <a:xfrm>
            <a:off x="1698850" y="3192816"/>
            <a:ext cx="8632428" cy="366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4" title="Screenshot 2026-07-21 at 4.40.26 PM.png"/>
          <p:cNvPicPr preferRelativeResize="0"/>
          <p:nvPr/>
        </p:nvPicPr>
        <p:blipFill rotWithShape="1">
          <a:blip r:embed="rId8">
            <a:alphaModFix/>
          </a:blip>
          <a:srcRect b="7662" l="13528" r="11063" t="7772"/>
          <a:stretch/>
        </p:blipFill>
        <p:spPr>
          <a:xfrm>
            <a:off x="7308805" y="2312820"/>
            <a:ext cx="643700" cy="636033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54"/>
          <p:cNvSpPr txBox="1"/>
          <p:nvPr/>
        </p:nvSpPr>
        <p:spPr>
          <a:xfrm>
            <a:off x="7726470" y="2245029"/>
            <a:ext cx="19608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6">
                <a:solidFill>
                  <a:schemeClr val="dk2"/>
                </a:solidFill>
              </a:rPr>
              <a:t>Epigenetic Network Explorer (CENE)</a:t>
            </a:r>
            <a:br>
              <a:rPr b="1" lang="en-US" sz="1386">
                <a:solidFill>
                  <a:schemeClr val="dk2"/>
                </a:solidFill>
              </a:rPr>
            </a:br>
            <a:r>
              <a:rPr b="1" lang="en-US" sz="1386">
                <a:solidFill>
                  <a:schemeClr val="dk2"/>
                </a:solidFill>
              </a:rPr>
              <a:t>(restricted dataset)</a:t>
            </a:r>
            <a:endParaRPr b="1" sz="1386">
              <a:solidFill>
                <a:schemeClr val="dk2"/>
              </a:solidFill>
            </a:endParaRPr>
          </a:p>
        </p:txBody>
      </p:sp>
      <p:sp>
        <p:nvSpPr>
          <p:cNvPr id="785" name="Google Shape;785;p54"/>
          <p:cNvSpPr txBox="1"/>
          <p:nvPr/>
        </p:nvSpPr>
        <p:spPr>
          <a:xfrm>
            <a:off x="10370625" y="2245029"/>
            <a:ext cx="15423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6">
                <a:solidFill>
                  <a:schemeClr val="dk2"/>
                </a:solidFill>
              </a:rPr>
              <a:t>MOSAIC data </a:t>
            </a:r>
            <a:endParaRPr b="1" sz="1386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6">
                <a:solidFill>
                  <a:schemeClr val="dk2"/>
                </a:solidFill>
              </a:rPr>
              <a:t>explorer</a:t>
            </a:r>
            <a:endParaRPr b="1" sz="1386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6">
                <a:solidFill>
                  <a:schemeClr val="dk2"/>
                </a:solidFill>
              </a:rPr>
              <a:t>(full timeseries)</a:t>
            </a:r>
            <a:endParaRPr b="1" sz="1386">
              <a:solidFill>
                <a:schemeClr val="dk2"/>
              </a:solidFill>
            </a:endParaRPr>
          </a:p>
        </p:txBody>
      </p:sp>
      <p:pic>
        <p:nvPicPr>
          <p:cNvPr id="786" name="Google Shape;786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64123" y="194841"/>
            <a:ext cx="2042300" cy="2042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7" name="Google Shape;787;p5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796125" y="194843"/>
            <a:ext cx="2042299" cy="20422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88" name="Google Shape;788;p5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796133" y="2312854"/>
            <a:ext cx="643691" cy="6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4"/>
          <p:cNvSpPr txBox="1"/>
          <p:nvPr/>
        </p:nvSpPr>
        <p:spPr>
          <a:xfrm>
            <a:off x="203100" y="310901"/>
            <a:ext cx="3237900" cy="26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Dr. Jill Ashey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Dr. Steven Roberts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Dr. Hollie Putnam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Dr. Jose M. Eirin-Lopez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Dr. Javier A. Rodriguez-Casariego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Zoe Dellaert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Zachary Bengtsson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Samuel J. White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Dr. Vaughn Iverson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Dr. Ariana Huffmyer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Grace Crandall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Megan Ewing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90" name="Google Shape;790;p54"/>
          <p:cNvSpPr/>
          <p:nvPr/>
        </p:nvSpPr>
        <p:spPr>
          <a:xfrm>
            <a:off x="9725450" y="3563425"/>
            <a:ext cx="2466300" cy="893100"/>
          </a:xfrm>
          <a:prstGeom prst="wedgeEllipseCallout">
            <a:avLst>
              <a:gd fmla="val -53391" name="adj1"/>
              <a:gd fmla="val 60956" name="adj2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4"/>
          <p:cNvSpPr txBox="1"/>
          <p:nvPr/>
        </p:nvSpPr>
        <p:spPr>
          <a:xfrm>
            <a:off x="10012700" y="3631082"/>
            <a:ext cx="18918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Get in touch!</a:t>
            </a:r>
            <a:endParaRPr sz="16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kdurkin1@uw.edu</a:t>
            </a:r>
            <a:endParaRPr sz="16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55"/>
          <p:cNvGrpSpPr/>
          <p:nvPr/>
        </p:nvGrpSpPr>
        <p:grpSpPr>
          <a:xfrm>
            <a:off x="0" y="5215659"/>
            <a:ext cx="12191677" cy="900188"/>
            <a:chOff x="0" y="5669962"/>
            <a:chExt cx="12191677" cy="900188"/>
          </a:xfrm>
        </p:grpSpPr>
        <p:pic>
          <p:nvPicPr>
            <p:cNvPr id="798" name="Google Shape;798;p55"/>
            <p:cNvPicPr preferRelativeResize="0"/>
            <p:nvPr/>
          </p:nvPicPr>
          <p:blipFill rotWithShape="1">
            <a:blip r:embed="rId3">
              <a:alphaModFix/>
            </a:blip>
            <a:srcRect b="0" l="0" r="0" t="87545"/>
            <a:stretch/>
          </p:blipFill>
          <p:spPr>
            <a:xfrm>
              <a:off x="0" y="5669962"/>
              <a:ext cx="12191677" cy="650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9" name="Google Shape;799;p55"/>
            <p:cNvPicPr preferRelativeResize="0"/>
            <p:nvPr/>
          </p:nvPicPr>
          <p:blipFill rotWithShape="1">
            <a:blip r:embed="rId3">
              <a:alphaModFix/>
            </a:blip>
            <a:srcRect b="91137" l="0" r="48820" t="4095"/>
            <a:stretch/>
          </p:blipFill>
          <p:spPr>
            <a:xfrm>
              <a:off x="2976000" y="6320925"/>
              <a:ext cx="6239677" cy="249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0" name="Google Shape;800;p55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Expression predictability differs by functional domain </a:t>
            </a:r>
            <a:r>
              <a:rPr b="1" i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and layer</a:t>
            </a:r>
            <a:endParaRPr b="1" i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1" name="Google Shape;801;p55"/>
          <p:cNvSpPr txBox="1"/>
          <p:nvPr/>
        </p:nvSpPr>
        <p:spPr>
          <a:xfrm>
            <a:off x="838650" y="913975"/>
            <a:ext cx="7940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domains </a:t>
            </a:r>
            <a:r>
              <a:rPr i="1" lang="en-US"/>
              <a:t>and epigenetic layer</a:t>
            </a:r>
            <a:endParaRPr i="1"/>
          </a:p>
        </p:txBody>
      </p:sp>
      <p:pic>
        <p:nvPicPr>
          <p:cNvPr id="802" name="Google Shape;802;p55"/>
          <p:cNvPicPr preferRelativeResize="0"/>
          <p:nvPr/>
        </p:nvPicPr>
        <p:blipFill rotWithShape="1">
          <a:blip r:embed="rId3">
            <a:alphaModFix/>
          </a:blip>
          <a:srcRect b="18084" l="0" r="0" t="8045"/>
          <a:stretch/>
        </p:blipFill>
        <p:spPr>
          <a:xfrm>
            <a:off x="225" y="1235212"/>
            <a:ext cx="12191232" cy="3861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56"/>
          <p:cNvGrpSpPr/>
          <p:nvPr/>
        </p:nvGrpSpPr>
        <p:grpSpPr>
          <a:xfrm>
            <a:off x="0" y="5215659"/>
            <a:ext cx="12191677" cy="900188"/>
            <a:chOff x="0" y="5669962"/>
            <a:chExt cx="12191677" cy="900188"/>
          </a:xfrm>
        </p:grpSpPr>
        <p:pic>
          <p:nvPicPr>
            <p:cNvPr id="809" name="Google Shape;809;p56"/>
            <p:cNvPicPr preferRelativeResize="0"/>
            <p:nvPr/>
          </p:nvPicPr>
          <p:blipFill rotWithShape="1">
            <a:blip r:embed="rId3">
              <a:alphaModFix/>
            </a:blip>
            <a:srcRect b="0" l="0" r="0" t="87545"/>
            <a:stretch/>
          </p:blipFill>
          <p:spPr>
            <a:xfrm>
              <a:off x="0" y="5669962"/>
              <a:ext cx="12191677" cy="650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0" name="Google Shape;810;p56"/>
            <p:cNvPicPr preferRelativeResize="0"/>
            <p:nvPr/>
          </p:nvPicPr>
          <p:blipFill rotWithShape="1">
            <a:blip r:embed="rId3">
              <a:alphaModFix/>
            </a:blip>
            <a:srcRect b="91137" l="0" r="48820" t="4095"/>
            <a:stretch/>
          </p:blipFill>
          <p:spPr>
            <a:xfrm>
              <a:off x="2976000" y="6320925"/>
              <a:ext cx="6239677" cy="249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11" name="Google Shape;811;p56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Expression predictability differs by functional domain </a:t>
            </a:r>
            <a:r>
              <a:rPr b="1" i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and layer</a:t>
            </a:r>
            <a:endParaRPr b="1" i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2" name="Google Shape;812;p56"/>
          <p:cNvSpPr txBox="1"/>
          <p:nvPr/>
        </p:nvSpPr>
        <p:spPr>
          <a:xfrm>
            <a:off x="838650" y="913975"/>
            <a:ext cx="79404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performance on genes across physiological domains </a:t>
            </a:r>
            <a:r>
              <a:rPr i="1" lang="en-US"/>
              <a:t>and epigenetic layer</a:t>
            </a:r>
            <a:endParaRPr i="1"/>
          </a:p>
        </p:txBody>
      </p:sp>
      <p:grpSp>
        <p:nvGrpSpPr>
          <p:cNvPr id="813" name="Google Shape;813;p56"/>
          <p:cNvGrpSpPr/>
          <p:nvPr/>
        </p:nvGrpSpPr>
        <p:grpSpPr>
          <a:xfrm>
            <a:off x="225" y="1235212"/>
            <a:ext cx="12191232" cy="3861438"/>
            <a:chOff x="-3353450" y="1161425"/>
            <a:chExt cx="14894602" cy="4717700"/>
          </a:xfrm>
        </p:grpSpPr>
        <p:pic>
          <p:nvPicPr>
            <p:cNvPr id="814" name="Google Shape;814;p56"/>
            <p:cNvPicPr preferRelativeResize="0"/>
            <p:nvPr/>
          </p:nvPicPr>
          <p:blipFill rotWithShape="1">
            <a:blip r:embed="rId3">
              <a:alphaModFix/>
            </a:blip>
            <a:srcRect b="18084" l="0" r="0" t="8045"/>
            <a:stretch/>
          </p:blipFill>
          <p:spPr>
            <a:xfrm>
              <a:off x="-3353450" y="1161425"/>
              <a:ext cx="14894602" cy="471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5" name="Google Shape;815;p56"/>
            <p:cNvSpPr/>
            <p:nvPr/>
          </p:nvSpPr>
          <p:spPr>
            <a:xfrm>
              <a:off x="1939425" y="1445975"/>
              <a:ext cx="550800" cy="3419700"/>
            </a:xfrm>
            <a:prstGeom prst="rect">
              <a:avLst/>
            </a:prstGeom>
            <a:noFill/>
            <a:ln cap="flat" cmpd="sng" w="23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/>
            </a:p>
          </p:txBody>
        </p:sp>
        <p:sp>
          <p:nvSpPr>
            <p:cNvPr id="816" name="Google Shape;816;p56"/>
            <p:cNvSpPr/>
            <p:nvPr/>
          </p:nvSpPr>
          <p:spPr>
            <a:xfrm>
              <a:off x="3090225" y="1445978"/>
              <a:ext cx="550800" cy="3419700"/>
            </a:xfrm>
            <a:prstGeom prst="rect">
              <a:avLst/>
            </a:prstGeom>
            <a:noFill/>
            <a:ln cap="flat" cmpd="sng" w="23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/>
            </a:p>
          </p:txBody>
        </p:sp>
        <p:sp>
          <p:nvSpPr>
            <p:cNvPr id="817" name="Google Shape;817;p56"/>
            <p:cNvSpPr/>
            <p:nvPr/>
          </p:nvSpPr>
          <p:spPr>
            <a:xfrm>
              <a:off x="5534600" y="1459850"/>
              <a:ext cx="550800" cy="3419700"/>
            </a:xfrm>
            <a:prstGeom prst="rect">
              <a:avLst/>
            </a:prstGeom>
            <a:noFill/>
            <a:ln cap="flat" cmpd="sng" w="23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/>
            </a:p>
          </p:txBody>
        </p:sp>
        <p:sp>
          <p:nvSpPr>
            <p:cNvPr id="818" name="Google Shape;818;p56"/>
            <p:cNvSpPr/>
            <p:nvPr/>
          </p:nvSpPr>
          <p:spPr>
            <a:xfrm>
              <a:off x="6685400" y="1459853"/>
              <a:ext cx="550800" cy="3419700"/>
            </a:xfrm>
            <a:prstGeom prst="rect">
              <a:avLst/>
            </a:prstGeom>
            <a:noFill/>
            <a:ln cap="flat" cmpd="sng" w="23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25" lIns="74825" spcFirstLastPara="1" rIns="74825" wrap="square" tIns="74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Expression predictability differs by functional domain </a:t>
            </a:r>
            <a:r>
              <a:rPr b="1" i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and layer</a:t>
            </a:r>
            <a:endParaRPr b="1" i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25" name="Google Shape;82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50" y="883500"/>
            <a:ext cx="4978751" cy="5974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300" y="883500"/>
            <a:ext cx="4978751" cy="597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8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Expression predictability differs by functional domain </a:t>
            </a:r>
            <a:r>
              <a:rPr b="1" i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and layer</a:t>
            </a:r>
            <a:endParaRPr b="1" i="1" sz="25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(preliminary results from </a:t>
            </a:r>
            <a:r>
              <a:rPr b="1" i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2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sz="2200">
              <a:solidFill>
                <a:schemeClr val="dk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33" name="Google Shape;83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7525" y="872028"/>
            <a:ext cx="9276614" cy="5730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5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0" name="Google Shape;840;p59"/>
          <p:cNvGraphicFramePr/>
          <p:nvPr/>
        </p:nvGraphicFramePr>
        <p:xfrm>
          <a:off x="1413325" y="6795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{9665AB95-0354-442B-8A9C-EF306FA1A1F9}</a:tableStyleId>
              </a:tblPr>
              <a:tblGrid>
                <a:gridCol w="903850"/>
                <a:gridCol w="975575"/>
                <a:gridCol w="783950"/>
                <a:gridCol w="810600"/>
                <a:gridCol w="793150"/>
                <a:gridCol w="793175"/>
                <a:gridCol w="810600"/>
                <a:gridCol w="827975"/>
                <a:gridCol w="1855575"/>
                <a:gridCol w="810575"/>
              </a:tblGrid>
              <a:tr h="9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y</a:t>
                      </a:r>
                      <a:r>
                        <a:rPr baseline="-25000" lang="en-US" sz="2000"/>
                        <a:t>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11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12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1j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1p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Ɛ</a:t>
                      </a:r>
                      <a:r>
                        <a:rPr baseline="-25000" lang="en-US" sz="2000"/>
                        <a:t>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y</a:t>
                      </a:r>
                      <a:r>
                        <a:rPr baseline="-25000" lang="en-US" sz="2000"/>
                        <a:t>2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21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22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2j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2p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Ɛ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</a:rPr>
                        <a:t>2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y</a:t>
                      </a:r>
                      <a:r>
                        <a:rPr baseline="-25000" lang="en-US" sz="2000"/>
                        <a:t>n-1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n-1,1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n-1,2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n-1,j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n-1,p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Ɛ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</a:rPr>
                        <a:t>n-1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y</a:t>
                      </a:r>
                      <a:r>
                        <a:rPr baseline="-25000" lang="en-US" sz="2000"/>
                        <a:t>n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n,1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n,2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n,j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…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x</a:t>
                      </a:r>
                      <a:r>
                        <a:rPr baseline="-25000" lang="en-US" sz="2000"/>
                        <a:t>n,p</a:t>
                      </a:r>
                      <a:endParaRPr baseline="-25000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Ɛ</a:t>
                      </a:r>
                      <a:r>
                        <a:rPr baseline="-25000" lang="en-US" sz="2000">
                          <a:solidFill>
                            <a:schemeClr val="dk1"/>
                          </a:solidFill>
                        </a:rPr>
                        <a:t>n</a:t>
                      </a:r>
                      <a:endParaRPr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1" name="Google Shape;841;p59"/>
          <p:cNvGraphicFramePr/>
          <p:nvPr/>
        </p:nvGraphicFramePr>
        <p:xfrm>
          <a:off x="8257967" y="3384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{9665AB95-0354-442B-8A9C-EF306FA1A1F9}</a:tableStyleId>
              </a:tblPr>
              <a:tblGrid>
                <a:gridCol w="952275"/>
              </a:tblGrid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-0.42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0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0.31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⋮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0</a:t>
                      </a:r>
                      <a:endParaRPr b="1" sz="2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2" name="Google Shape;842;p59"/>
          <p:cNvSpPr/>
          <p:nvPr/>
        </p:nvSpPr>
        <p:spPr>
          <a:xfrm>
            <a:off x="1413325" y="67956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3" name="Google Shape;843;p59"/>
          <p:cNvSpPr/>
          <p:nvPr/>
        </p:nvSpPr>
        <p:spPr>
          <a:xfrm>
            <a:off x="3292750" y="67956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4" name="Google Shape;844;p59"/>
          <p:cNvSpPr/>
          <p:nvPr/>
        </p:nvSpPr>
        <p:spPr>
          <a:xfrm>
            <a:off x="9967775" y="67956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5" name="Google Shape;845;p59"/>
          <p:cNvSpPr/>
          <p:nvPr/>
        </p:nvSpPr>
        <p:spPr>
          <a:xfrm>
            <a:off x="8257979" y="338457"/>
            <a:ext cx="208200" cy="5344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6" name="Google Shape;846;p59"/>
          <p:cNvSpPr/>
          <p:nvPr/>
        </p:nvSpPr>
        <p:spPr>
          <a:xfrm rot="10800000">
            <a:off x="2108964" y="67958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7" name="Google Shape;847;p59"/>
          <p:cNvSpPr/>
          <p:nvPr/>
        </p:nvSpPr>
        <p:spPr>
          <a:xfrm rot="10800000">
            <a:off x="7903989" y="67958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8" name="Google Shape;848;p59"/>
          <p:cNvSpPr/>
          <p:nvPr/>
        </p:nvSpPr>
        <p:spPr>
          <a:xfrm rot="10800000">
            <a:off x="10570139" y="679588"/>
            <a:ext cx="208200" cy="4762500"/>
          </a:xfrm>
          <a:prstGeom prst="leftBracket">
            <a:avLst>
              <a:gd fmla="val 0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49" name="Google Shape;849;p59"/>
          <p:cNvSpPr/>
          <p:nvPr/>
        </p:nvSpPr>
        <p:spPr>
          <a:xfrm rot="10800000">
            <a:off x="9002054" y="338505"/>
            <a:ext cx="208200" cy="5345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50" name="Google Shape;850;p59"/>
          <p:cNvSpPr/>
          <p:nvPr/>
        </p:nvSpPr>
        <p:spPr>
          <a:xfrm>
            <a:off x="2600213" y="2923731"/>
            <a:ext cx="409500" cy="274200"/>
          </a:xfrm>
          <a:prstGeom prst="mathEqual">
            <a:avLst>
              <a:gd fmla="val 3080" name="adj1"/>
              <a:gd fmla="val 26696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9"/>
          <p:cNvSpPr/>
          <p:nvPr/>
        </p:nvSpPr>
        <p:spPr>
          <a:xfrm>
            <a:off x="9422813" y="2902118"/>
            <a:ext cx="332400" cy="317400"/>
          </a:xfrm>
          <a:prstGeom prst="mathPlus">
            <a:avLst>
              <a:gd fmla="val 2446" name="adj1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59"/>
          <p:cNvSpPr/>
          <p:nvPr/>
        </p:nvSpPr>
        <p:spPr>
          <a:xfrm>
            <a:off x="1503825" y="791281"/>
            <a:ext cx="703500" cy="4542600"/>
          </a:xfrm>
          <a:prstGeom prst="roundRect">
            <a:avLst>
              <a:gd fmla="val 7500" name="adj"/>
            </a:avLst>
          </a:prstGeom>
          <a:solidFill>
            <a:srgbClr val="CC79A7">
              <a:alpha val="20000"/>
            </a:srgbClr>
          </a:solidFill>
          <a:ln cap="flat" cmpd="sng" w="19050">
            <a:solidFill>
              <a:srgbClr val="CC79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9"/>
          <p:cNvSpPr/>
          <p:nvPr/>
        </p:nvSpPr>
        <p:spPr>
          <a:xfrm>
            <a:off x="3404013" y="815131"/>
            <a:ext cx="1404300" cy="4494900"/>
          </a:xfrm>
          <a:prstGeom prst="roundRect">
            <a:avLst>
              <a:gd fmla="val 7500" name="adj"/>
            </a:avLst>
          </a:prstGeom>
          <a:solidFill>
            <a:srgbClr val="DE8E07">
              <a:alpha val="15000"/>
            </a:srgbClr>
          </a:solidFill>
          <a:ln cap="flat" cmpd="sng" w="19050">
            <a:solidFill>
              <a:srgbClr val="DE8E0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9"/>
          <p:cNvSpPr/>
          <p:nvPr/>
        </p:nvSpPr>
        <p:spPr>
          <a:xfrm>
            <a:off x="4906800" y="815131"/>
            <a:ext cx="1587300" cy="4494900"/>
          </a:xfrm>
          <a:prstGeom prst="roundRect">
            <a:avLst>
              <a:gd fmla="val 7500" name="adj"/>
            </a:avLst>
          </a:prstGeom>
          <a:solidFill>
            <a:srgbClr val="2D69A9">
              <a:alpha val="15000"/>
            </a:srgbClr>
          </a:solidFill>
          <a:ln cap="flat" cmpd="sng" w="19050">
            <a:solidFill>
              <a:srgbClr val="2D69A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9"/>
          <p:cNvSpPr/>
          <p:nvPr/>
        </p:nvSpPr>
        <p:spPr>
          <a:xfrm>
            <a:off x="6590800" y="815231"/>
            <a:ext cx="1404300" cy="4494900"/>
          </a:xfrm>
          <a:prstGeom prst="roundRect">
            <a:avLst>
              <a:gd fmla="val 7500" name="adj"/>
            </a:avLst>
          </a:prstGeom>
          <a:solidFill>
            <a:srgbClr val="138F60">
              <a:alpha val="15000"/>
            </a:srgbClr>
          </a:solidFill>
          <a:ln cap="flat" cmpd="sng" w="19050">
            <a:solidFill>
              <a:srgbClr val="138F6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9"/>
          <p:cNvSpPr/>
          <p:nvPr/>
        </p:nvSpPr>
        <p:spPr>
          <a:xfrm rot="5400000">
            <a:off x="7957767" y="893925"/>
            <a:ext cx="1560900" cy="703500"/>
          </a:xfrm>
          <a:prstGeom prst="roundRect">
            <a:avLst>
              <a:gd fmla="val 7500" name="adj"/>
            </a:avLst>
          </a:prstGeom>
          <a:solidFill>
            <a:srgbClr val="DE8E07">
              <a:alpha val="20000"/>
            </a:srgbClr>
          </a:solidFill>
          <a:ln cap="flat" cmpd="sng" w="28575">
            <a:solidFill>
              <a:srgbClr val="DE8E0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9"/>
          <p:cNvSpPr/>
          <p:nvPr/>
        </p:nvSpPr>
        <p:spPr>
          <a:xfrm rot="5400000">
            <a:off x="7856067" y="2666050"/>
            <a:ext cx="1764300" cy="703500"/>
          </a:xfrm>
          <a:prstGeom prst="roundRect">
            <a:avLst>
              <a:gd fmla="val 7500" name="adj"/>
            </a:avLst>
          </a:prstGeom>
          <a:solidFill>
            <a:srgbClr val="2D69A9">
              <a:alpha val="20000"/>
            </a:srgbClr>
          </a:solidFill>
          <a:ln cap="flat" cmpd="sng" w="28575">
            <a:solidFill>
              <a:srgbClr val="2D69A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9"/>
          <p:cNvSpPr/>
          <p:nvPr/>
        </p:nvSpPr>
        <p:spPr>
          <a:xfrm rot="5400000">
            <a:off x="7957752" y="4436203"/>
            <a:ext cx="1560900" cy="703500"/>
          </a:xfrm>
          <a:prstGeom prst="roundRect">
            <a:avLst>
              <a:gd fmla="val 7500" name="adj"/>
            </a:avLst>
          </a:prstGeom>
          <a:solidFill>
            <a:srgbClr val="138F60">
              <a:alpha val="20000"/>
            </a:srgbClr>
          </a:solidFill>
          <a:ln cap="flat" cmpd="sng" w="28575">
            <a:solidFill>
              <a:srgbClr val="138F6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9"/>
          <p:cNvSpPr txBox="1"/>
          <p:nvPr/>
        </p:nvSpPr>
        <p:spPr>
          <a:xfrm>
            <a:off x="3767275" y="5832269"/>
            <a:ext cx="41367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X  </a:t>
            </a:r>
            <a:r>
              <a:rPr lang="en-US">
                <a:solidFill>
                  <a:srgbClr val="434343"/>
                </a:solidFill>
              </a:rPr>
              <a:t>(n x p)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Predictor matrix: z-scaled miRNA expression, lncRNA expression, and GbM values per sample</a:t>
            </a:r>
            <a:endParaRPr/>
          </a:p>
        </p:txBody>
      </p:sp>
      <p:sp>
        <p:nvSpPr>
          <p:cNvPr id="860" name="Google Shape;860;p59"/>
          <p:cNvSpPr txBox="1"/>
          <p:nvPr/>
        </p:nvSpPr>
        <p:spPr>
          <a:xfrm>
            <a:off x="562425" y="5832169"/>
            <a:ext cx="26085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  </a:t>
            </a:r>
            <a:r>
              <a:rPr lang="en-US">
                <a:solidFill>
                  <a:srgbClr val="434343"/>
                </a:solidFill>
              </a:rPr>
              <a:t>(n x 1)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Response matrix: expression of gene g across samples</a:t>
            </a:r>
            <a:endParaRPr/>
          </a:p>
        </p:txBody>
      </p:sp>
      <p:sp>
        <p:nvSpPr>
          <p:cNvPr id="861" name="Google Shape;861;p59"/>
          <p:cNvSpPr txBox="1"/>
          <p:nvPr/>
        </p:nvSpPr>
        <p:spPr>
          <a:xfrm>
            <a:off x="7936485" y="5832119"/>
            <a:ext cx="17397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β</a:t>
            </a:r>
            <a:r>
              <a:rPr lang="en-US" sz="1600"/>
              <a:t> </a:t>
            </a:r>
            <a:r>
              <a:rPr lang="en-US">
                <a:solidFill>
                  <a:srgbClr val="434343"/>
                </a:solidFill>
              </a:rPr>
              <a:t>(p x 1)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EN output. </a:t>
            </a:r>
            <a:r>
              <a:rPr lang="en-US"/>
              <a:t>Sparse coefficient vector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9"/>
          <p:cNvSpPr txBox="1"/>
          <p:nvPr/>
        </p:nvSpPr>
        <p:spPr>
          <a:xfrm>
            <a:off x="9788767" y="5832019"/>
            <a:ext cx="12750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Ɛ  </a:t>
            </a:r>
            <a:r>
              <a:rPr lang="en-US">
                <a:solidFill>
                  <a:srgbClr val="434343"/>
                </a:solidFill>
              </a:rPr>
              <a:t>(n x 1)</a:t>
            </a:r>
            <a:endParaRPr>
              <a:solidFill>
                <a:srgbClr val="434343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Residuals </a:t>
            </a:r>
            <a:endParaRPr/>
          </a:p>
        </p:txBody>
      </p:sp>
      <p:sp>
        <p:nvSpPr>
          <p:cNvPr id="863" name="Google Shape;863;p59"/>
          <p:cNvSpPr txBox="1"/>
          <p:nvPr/>
        </p:nvSpPr>
        <p:spPr>
          <a:xfrm>
            <a:off x="3560860" y="473875"/>
            <a:ext cx="1126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E8E07"/>
                </a:solidFill>
              </a:rPr>
              <a:t>miRNA</a:t>
            </a:r>
            <a:endParaRPr>
              <a:solidFill>
                <a:srgbClr val="DE8E07"/>
              </a:solidFill>
            </a:endParaRPr>
          </a:p>
        </p:txBody>
      </p:sp>
      <p:sp>
        <p:nvSpPr>
          <p:cNvPr id="864" name="Google Shape;864;p59"/>
          <p:cNvSpPr txBox="1"/>
          <p:nvPr/>
        </p:nvSpPr>
        <p:spPr>
          <a:xfrm>
            <a:off x="5079721" y="473875"/>
            <a:ext cx="1216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D69A9"/>
                </a:solidFill>
              </a:rPr>
              <a:t>lncRNA</a:t>
            </a:r>
            <a:endParaRPr>
              <a:solidFill>
                <a:srgbClr val="2D69A9"/>
              </a:solidFill>
            </a:endParaRPr>
          </a:p>
        </p:txBody>
      </p:sp>
      <p:sp>
        <p:nvSpPr>
          <p:cNvPr id="865" name="Google Shape;865;p59"/>
          <p:cNvSpPr txBox="1"/>
          <p:nvPr/>
        </p:nvSpPr>
        <p:spPr>
          <a:xfrm>
            <a:off x="6837483" y="473875"/>
            <a:ext cx="952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38F60"/>
                </a:solidFill>
              </a:rPr>
              <a:t>GbM</a:t>
            </a:r>
            <a:endParaRPr>
              <a:solidFill>
                <a:srgbClr val="138F60"/>
              </a:solidFill>
            </a:endParaRPr>
          </a:p>
        </p:txBody>
      </p:sp>
      <p:sp>
        <p:nvSpPr>
          <p:cNvPr id="866" name="Google Shape;866;p59"/>
          <p:cNvSpPr txBox="1"/>
          <p:nvPr/>
        </p:nvSpPr>
        <p:spPr>
          <a:xfrm>
            <a:off x="4293575" y="776650"/>
            <a:ext cx="79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59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Elastic Net Regression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0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5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Elastic Net Regression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0"/>
          <p:cNvSpPr/>
          <p:nvPr/>
        </p:nvSpPr>
        <p:spPr>
          <a:xfrm>
            <a:off x="503175" y="822900"/>
            <a:ext cx="5272200" cy="109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60"/>
          <p:cNvSpPr/>
          <p:nvPr/>
        </p:nvSpPr>
        <p:spPr>
          <a:xfrm>
            <a:off x="503178" y="822890"/>
            <a:ext cx="82200" cy="1097400"/>
          </a:xfrm>
          <a:prstGeom prst="rect">
            <a:avLst/>
          </a:prstGeom>
          <a:solidFill>
            <a:srgbClr val="FC8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0"/>
          <p:cNvSpPr/>
          <p:nvPr/>
        </p:nvSpPr>
        <p:spPr>
          <a:xfrm>
            <a:off x="759210" y="914330"/>
            <a:ext cx="512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22F06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FC8B27"/>
                </a:solidFill>
                <a:latin typeface="Georgia"/>
                <a:ea typeface="Georgia"/>
                <a:cs typeface="Georgia"/>
                <a:sym typeface="Georgia"/>
              </a:rPr>
              <a:t>Lasso (L1) — harsh editor</a:t>
            </a:r>
            <a:endParaRPr b="0" i="0" sz="1400" u="none" cap="none" strike="noStrike">
              <a:solidFill>
                <a:srgbClr val="FC8B2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0"/>
          <p:cNvSpPr/>
          <p:nvPr/>
        </p:nvSpPr>
        <p:spPr>
          <a:xfrm>
            <a:off x="759210" y="1280090"/>
            <a:ext cx="5120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penalizes |B|; drives many coefficients to exactly 0 → sparse, </a:t>
            </a:r>
            <a:r>
              <a:rPr b="1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but</a:t>
            </a:r>
            <a:r>
              <a:rPr b="0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 arbitrary among correlated features.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60"/>
          <p:cNvSpPr/>
          <p:nvPr/>
        </p:nvSpPr>
        <p:spPr>
          <a:xfrm>
            <a:off x="6353544" y="822900"/>
            <a:ext cx="5272200" cy="109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D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0"/>
          <p:cNvSpPr/>
          <p:nvPr/>
        </p:nvSpPr>
        <p:spPr>
          <a:xfrm>
            <a:off x="6353532" y="822890"/>
            <a:ext cx="82200" cy="1097400"/>
          </a:xfrm>
          <a:prstGeom prst="rect">
            <a:avLst/>
          </a:prstGeom>
          <a:solidFill>
            <a:srgbClr val="2493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60"/>
          <p:cNvSpPr/>
          <p:nvPr/>
        </p:nvSpPr>
        <p:spPr>
          <a:xfrm>
            <a:off x="6609564" y="914330"/>
            <a:ext cx="51207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49391"/>
                </a:solidFill>
                <a:latin typeface="Georgia"/>
                <a:ea typeface="Georgia"/>
                <a:cs typeface="Georgia"/>
                <a:sym typeface="Georgia"/>
              </a:rPr>
              <a:t>Ridge (L2) — compromiser</a:t>
            </a:r>
            <a:endParaRPr b="0" i="0" sz="1400" u="none" cap="none" strike="noStrike">
              <a:solidFill>
                <a:srgbClr val="24939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0"/>
          <p:cNvSpPr/>
          <p:nvPr/>
        </p:nvSpPr>
        <p:spPr>
          <a:xfrm>
            <a:off x="6609564" y="1280090"/>
            <a:ext cx="51207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penalizes B-squared; shrinks correlated predictors together, </a:t>
            </a:r>
            <a:r>
              <a:rPr b="1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but</a:t>
            </a:r>
            <a:r>
              <a:rPr b="0" i="0" lang="en-US" sz="12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 keeps everything → not sparse.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0"/>
          <p:cNvSpPr/>
          <p:nvPr/>
        </p:nvSpPr>
        <p:spPr>
          <a:xfrm>
            <a:off x="11414455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" name="Google Shape;883;p60"/>
          <p:cNvGrpSpPr/>
          <p:nvPr/>
        </p:nvGrpSpPr>
        <p:grpSpPr>
          <a:xfrm>
            <a:off x="1168319" y="2071257"/>
            <a:ext cx="9855040" cy="4786748"/>
            <a:chOff x="3193686" y="328125"/>
            <a:chExt cx="8220755" cy="3992950"/>
          </a:xfrm>
        </p:grpSpPr>
        <p:pic>
          <p:nvPicPr>
            <p:cNvPr id="884" name="Google Shape;884;p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93686" y="328128"/>
              <a:ext cx="8220755" cy="3992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5" name="Google Shape;885;p60"/>
            <p:cNvPicPr preferRelativeResize="0"/>
            <p:nvPr/>
          </p:nvPicPr>
          <p:blipFill rotWithShape="1">
            <a:blip r:embed="rId3">
              <a:alphaModFix/>
            </a:blip>
            <a:srcRect b="27573" l="0" r="67521" t="0"/>
            <a:stretch/>
          </p:blipFill>
          <p:spPr>
            <a:xfrm>
              <a:off x="5797130" y="328125"/>
              <a:ext cx="2670049" cy="2892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6" name="Google Shape;886;p60"/>
            <p:cNvPicPr preferRelativeResize="0"/>
            <p:nvPr/>
          </p:nvPicPr>
          <p:blipFill rotWithShape="1">
            <a:blip r:embed="rId3">
              <a:alphaModFix/>
            </a:blip>
            <a:srcRect b="27573" l="34432" r="35909" t="0"/>
            <a:stretch/>
          </p:blipFill>
          <p:spPr>
            <a:xfrm>
              <a:off x="3373850" y="328125"/>
              <a:ext cx="2438125" cy="28920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7" name="Google Shape;887;p60"/>
            <p:cNvPicPr preferRelativeResize="0"/>
            <p:nvPr/>
          </p:nvPicPr>
          <p:blipFill rotWithShape="1">
            <a:blip r:embed="rId3">
              <a:alphaModFix/>
            </a:blip>
            <a:srcRect b="0" l="356" r="68968" t="81419"/>
            <a:stretch/>
          </p:blipFill>
          <p:spPr>
            <a:xfrm>
              <a:off x="5953293" y="3579125"/>
              <a:ext cx="2521799" cy="741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8" name="Google Shape;888;p60"/>
            <p:cNvPicPr preferRelativeResize="0"/>
            <p:nvPr/>
          </p:nvPicPr>
          <p:blipFill rotWithShape="1">
            <a:blip r:embed="rId3">
              <a:alphaModFix/>
            </a:blip>
            <a:srcRect b="0" l="34516" r="35827" t="81419"/>
            <a:stretch/>
          </p:blipFill>
          <p:spPr>
            <a:xfrm>
              <a:off x="3346989" y="3579125"/>
              <a:ext cx="2438125" cy="7419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9" name="Google Shape;889;p60"/>
          <p:cNvSpPr txBox="1"/>
          <p:nvPr/>
        </p:nvSpPr>
        <p:spPr>
          <a:xfrm>
            <a:off x="5429675" y="6545700"/>
            <a:ext cx="67620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medium.com/@tavishi.1402/regularization-techniques-lasso-and-ridge-90d3cc73ca4c</a:t>
            </a:r>
            <a:endParaRPr sz="1000"/>
          </a:p>
        </p:txBody>
      </p:sp>
      <p:sp>
        <p:nvSpPr>
          <p:cNvPr id="890" name="Google Shape;890;p60"/>
          <p:cNvSpPr/>
          <p:nvPr/>
        </p:nvSpPr>
        <p:spPr>
          <a:xfrm>
            <a:off x="5898250" y="1212893"/>
            <a:ext cx="332400" cy="317400"/>
          </a:xfrm>
          <a:prstGeom prst="mathPlus">
            <a:avLst>
              <a:gd fmla="val 16379" name="adj1"/>
            </a:avLst>
          </a:prstGeom>
          <a:solidFill>
            <a:srgbClr val="AE0329"/>
          </a:solidFill>
          <a:ln cap="flat" cmpd="sng" w="9525">
            <a:solidFill>
              <a:srgbClr val="AE03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61"/>
          <p:cNvSpPr/>
          <p:nvPr/>
        </p:nvSpPr>
        <p:spPr>
          <a:xfrm>
            <a:off x="341500" y="766750"/>
            <a:ext cx="5588400" cy="469800"/>
          </a:xfrm>
          <a:prstGeom prst="roundRect">
            <a:avLst>
              <a:gd fmla="val 572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61"/>
          <p:cNvSpPr txBox="1"/>
          <p:nvPr>
            <p:ph type="title"/>
          </p:nvPr>
        </p:nvSpPr>
        <p:spPr>
          <a:xfrm>
            <a:off x="0" y="0"/>
            <a:ext cx="113604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Georgia"/>
                <a:ea typeface="Georgia"/>
                <a:cs typeface="Georgia"/>
                <a:sym typeface="Georgia"/>
              </a:rPr>
              <a:t>Validated model using noise injection</a:t>
            </a:r>
            <a:endParaRPr b="1" sz="25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97" name="Google Shape;897;p61"/>
          <p:cNvPicPr preferRelativeResize="0"/>
          <p:nvPr/>
        </p:nvPicPr>
        <p:blipFill rotWithShape="1">
          <a:blip r:embed="rId3">
            <a:alphaModFix/>
          </a:blip>
          <a:srcRect b="3559" l="0" r="0" t="0"/>
          <a:stretch/>
        </p:blipFill>
        <p:spPr>
          <a:xfrm>
            <a:off x="341424" y="1289900"/>
            <a:ext cx="5588552" cy="53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61" title="Screenshot 2026-03-04 at 10.01.0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9982" y="1190378"/>
            <a:ext cx="6026886" cy="5588548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61"/>
          <p:cNvSpPr txBox="1"/>
          <p:nvPr/>
        </p:nvSpPr>
        <p:spPr>
          <a:xfrm>
            <a:off x="1814950" y="839350"/>
            <a:ext cx="26415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Real predictor data</a:t>
            </a:r>
            <a:endParaRPr sz="1700">
              <a:solidFill>
                <a:srgbClr val="FFFFFF"/>
              </a:solidFill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6149225" y="766750"/>
            <a:ext cx="5588400" cy="469800"/>
          </a:xfrm>
          <a:prstGeom prst="roundRect">
            <a:avLst>
              <a:gd fmla="val 5721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1"/>
          <p:cNvSpPr txBox="1"/>
          <p:nvPr/>
        </p:nvSpPr>
        <p:spPr>
          <a:xfrm>
            <a:off x="6972300" y="812800"/>
            <a:ext cx="3771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FFFFF"/>
                </a:solidFill>
              </a:rPr>
              <a:t>Randomized predictor data</a:t>
            </a:r>
            <a:endParaRPr sz="1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62"/>
          <p:cNvSpPr/>
          <p:nvPr/>
        </p:nvSpPr>
        <p:spPr>
          <a:xfrm>
            <a:off x="211675" y="937374"/>
            <a:ext cx="40401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Idea: </a:t>
            </a:r>
            <a:endParaRPr b="1" i="0" sz="1800" u="sng" cap="none" strike="noStrike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permute the response, refit many times, build a null per predictor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2"/>
          <p:cNvSpPr/>
          <p:nvPr/>
        </p:nvSpPr>
        <p:spPr>
          <a:xfrm>
            <a:off x="11201101" y="6327648"/>
            <a:ext cx="548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7077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62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Permutation testing 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broke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under sparse penalized regression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fig2_permutation_null_collapse.png" id="910" name="Google Shape;910;p62"/>
          <p:cNvPicPr preferRelativeResize="0"/>
          <p:nvPr/>
        </p:nvPicPr>
        <p:blipFill rotWithShape="1">
          <a:blip r:embed="rId3">
            <a:alphaModFix/>
          </a:blip>
          <a:srcRect b="29186" l="0" r="50475" t="13428"/>
          <a:stretch/>
        </p:blipFill>
        <p:spPr>
          <a:xfrm>
            <a:off x="5997028" y="2760200"/>
            <a:ext cx="6168183" cy="3254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outputs/fig2_permutation_null_collapse.png" id="911" name="Google Shape;911;p62"/>
          <p:cNvPicPr preferRelativeResize="0"/>
          <p:nvPr/>
        </p:nvPicPr>
        <p:blipFill rotWithShape="1">
          <a:blip r:embed="rId3">
            <a:alphaModFix/>
          </a:blip>
          <a:srcRect b="29186" l="51043" r="0" t="13428"/>
          <a:stretch/>
        </p:blipFill>
        <p:spPr>
          <a:xfrm>
            <a:off x="26463" y="2760200"/>
            <a:ext cx="5758904" cy="325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62"/>
          <p:cNvSpPr txBox="1"/>
          <p:nvPr/>
        </p:nvSpPr>
        <p:spPr>
          <a:xfrm>
            <a:off x="5970650" y="907150"/>
            <a:ext cx="61683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each refit selects ~50 predictors (different random set each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rtl="0" algn="l"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For any one predictor the null becomes a spike at zero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rtl="0" algn="l"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any non-zero coef looks ‘significant’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62"/>
          <p:cNvSpPr/>
          <p:nvPr/>
        </p:nvSpPr>
        <p:spPr>
          <a:xfrm>
            <a:off x="570738" y="2820694"/>
            <a:ext cx="52161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2"/>
          <p:cNvSpPr/>
          <p:nvPr/>
        </p:nvSpPr>
        <p:spPr>
          <a:xfrm>
            <a:off x="6664938" y="2820694"/>
            <a:ext cx="52161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62"/>
          <p:cNvSpPr txBox="1"/>
          <p:nvPr/>
        </p:nvSpPr>
        <p:spPr>
          <a:xfrm>
            <a:off x="1765188" y="2675950"/>
            <a:ext cx="282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“proper” null distribution</a:t>
            </a:r>
            <a:endParaRPr b="1"/>
          </a:p>
        </p:txBody>
      </p:sp>
      <p:sp>
        <p:nvSpPr>
          <p:cNvPr id="916" name="Google Shape;916;p62"/>
          <p:cNvSpPr txBox="1"/>
          <p:nvPr/>
        </p:nvSpPr>
        <p:spPr>
          <a:xfrm>
            <a:off x="7266863" y="2675950"/>
            <a:ext cx="362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null under a high-dim, sparse Elastic Net</a:t>
            </a:r>
            <a:endParaRPr b="1"/>
          </a:p>
        </p:txBody>
      </p:sp>
      <p:sp>
        <p:nvSpPr>
          <p:cNvPr id="917" name="Google Shape;917;p62"/>
          <p:cNvSpPr/>
          <p:nvPr/>
        </p:nvSpPr>
        <p:spPr>
          <a:xfrm>
            <a:off x="5881300" y="755950"/>
            <a:ext cx="6310500" cy="545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3"/>
          <p:cNvSpPr/>
          <p:nvPr/>
        </p:nvSpPr>
        <p:spPr>
          <a:xfrm>
            <a:off x="211675" y="937374"/>
            <a:ext cx="4040100" cy="1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Idea: </a:t>
            </a:r>
            <a:endParaRPr b="1" i="0" sz="1800" u="sng" cap="none" strike="noStrike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permute the response, refit many times, build a null per predictor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63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Permutation testing 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broke under sparse penalized regression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fig2_permutation_null_collapse.png" id="925" name="Google Shape;925;p63"/>
          <p:cNvPicPr preferRelativeResize="0"/>
          <p:nvPr/>
        </p:nvPicPr>
        <p:blipFill rotWithShape="1">
          <a:blip r:embed="rId3">
            <a:alphaModFix/>
          </a:blip>
          <a:srcRect b="29186" l="0" r="50475" t="13428"/>
          <a:stretch/>
        </p:blipFill>
        <p:spPr>
          <a:xfrm>
            <a:off x="5997028" y="2760200"/>
            <a:ext cx="6168183" cy="3254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user-data/outputs/fig2_permutation_null_collapse.png" id="926" name="Google Shape;926;p63"/>
          <p:cNvPicPr preferRelativeResize="0"/>
          <p:nvPr/>
        </p:nvPicPr>
        <p:blipFill rotWithShape="1">
          <a:blip r:embed="rId3">
            <a:alphaModFix/>
          </a:blip>
          <a:srcRect b="29186" l="51043" r="0" t="13428"/>
          <a:stretch/>
        </p:blipFill>
        <p:spPr>
          <a:xfrm>
            <a:off x="26463" y="2760200"/>
            <a:ext cx="5758904" cy="325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63"/>
          <p:cNvSpPr txBox="1"/>
          <p:nvPr/>
        </p:nvSpPr>
        <p:spPr>
          <a:xfrm>
            <a:off x="5970650" y="907150"/>
            <a:ext cx="6168300" cy="17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BUT </a:t>
            </a: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each refit selects ~50 predictors (different random set each 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rtl="0" algn="l"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For any one predictor the null becomes a spike at zero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rtl="0" algn="l"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any non-zero coef looks ‘significant’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3"/>
          <p:cNvSpPr/>
          <p:nvPr/>
        </p:nvSpPr>
        <p:spPr>
          <a:xfrm>
            <a:off x="570738" y="2820694"/>
            <a:ext cx="52161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63"/>
          <p:cNvSpPr/>
          <p:nvPr/>
        </p:nvSpPr>
        <p:spPr>
          <a:xfrm>
            <a:off x="6664938" y="2820694"/>
            <a:ext cx="5216100" cy="29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3"/>
          <p:cNvSpPr txBox="1"/>
          <p:nvPr/>
        </p:nvSpPr>
        <p:spPr>
          <a:xfrm>
            <a:off x="1765188" y="2675950"/>
            <a:ext cx="282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“proper” null distribution</a:t>
            </a:r>
            <a:endParaRPr b="1"/>
          </a:p>
        </p:txBody>
      </p:sp>
      <p:sp>
        <p:nvSpPr>
          <p:cNvPr id="931" name="Google Shape;931;p63"/>
          <p:cNvSpPr txBox="1"/>
          <p:nvPr/>
        </p:nvSpPr>
        <p:spPr>
          <a:xfrm>
            <a:off x="7266863" y="2675950"/>
            <a:ext cx="362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null under a high-dim, sparse Elastic Net</a:t>
            </a:r>
            <a:endParaRPr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4"/>
          <p:cNvSpPr/>
          <p:nvPr/>
        </p:nvSpPr>
        <p:spPr>
          <a:xfrm>
            <a:off x="7" y="7"/>
            <a:ext cx="111555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3F54"/>
              </a:buClr>
              <a:buSzPts val="2700"/>
              <a:buFont typeface="Georgia"/>
              <a:buNone/>
            </a:pPr>
            <a:r>
              <a:rPr b="1" lang="en-US" sz="2700">
                <a:solidFill>
                  <a:srgbClr val="023F54"/>
                </a:solidFill>
                <a:latin typeface="Georgia"/>
                <a:ea typeface="Georgia"/>
                <a:cs typeface="Georgia"/>
                <a:sym typeface="Georgia"/>
              </a:rPr>
              <a:t> Stability selection identifies reliably-selected predictors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4"/>
          <p:cNvSpPr/>
          <p:nvPr/>
        </p:nvSpPr>
        <p:spPr>
          <a:xfrm>
            <a:off x="257025" y="1714125"/>
            <a:ext cx="31593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Repeatedly subsample ~50% of observations (complementary pairs); refit EN on each</a:t>
            </a:r>
            <a:endParaRPr b="0" i="0" sz="1800" u="none" cap="none" strike="noStrike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Selection probability = fraction of subsamples in which a predictor is chosen</a:t>
            </a:r>
            <a:endParaRPr b="0" i="0" sz="1800" u="none" cap="none" strike="noStrike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2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6375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2303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Predictors above π = 0.6 are declared stable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fig3_stability_selection.png" id="939" name="Google Shape;939;p64"/>
          <p:cNvPicPr preferRelativeResize="0"/>
          <p:nvPr/>
        </p:nvPicPr>
        <p:blipFill rotWithShape="1">
          <a:blip r:embed="rId3">
            <a:alphaModFix/>
          </a:blip>
          <a:srcRect b="5424" l="0" r="0" t="5210"/>
          <a:stretch/>
        </p:blipFill>
        <p:spPr>
          <a:xfrm>
            <a:off x="3416300" y="2024875"/>
            <a:ext cx="8775376" cy="3664724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4"/>
          <p:cNvSpPr/>
          <p:nvPr/>
        </p:nvSpPr>
        <p:spPr>
          <a:xfrm>
            <a:off x="60479" y="6565600"/>
            <a:ext cx="2524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7077"/>
              </a:buClr>
              <a:buSzPts val="950"/>
              <a:buFont typeface="Calibri"/>
              <a:buNone/>
            </a:pPr>
            <a:r>
              <a:rPr b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Meinshausen &amp; Bühlmann, 2010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64"/>
          <p:cNvSpPr txBox="1"/>
          <p:nvPr/>
        </p:nvSpPr>
        <p:spPr>
          <a:xfrm>
            <a:off x="378000" y="938600"/>
            <a:ext cx="1082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Instead of asking “is this coefficient significant?”,  ask “</a:t>
            </a:r>
            <a:r>
              <a:rPr b="1" lang="en-US" sz="20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how consistently is it selected?</a:t>
            </a:r>
            <a:r>
              <a:rPr lang="en-US" sz="2000">
                <a:solidFill>
                  <a:srgbClr val="12303A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600"/>
          </a:p>
        </p:txBody>
      </p:sp>
      <p:sp>
        <p:nvSpPr>
          <p:cNvPr id="942" name="Google Shape;942;p64"/>
          <p:cNvSpPr/>
          <p:nvPr/>
        </p:nvSpPr>
        <p:spPr>
          <a:xfrm>
            <a:off x="8255000" y="3430575"/>
            <a:ext cx="3835500" cy="66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5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A. </a:t>
            </a: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pulchra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e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nergetic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state example:</a:t>
            </a:r>
            <a:endParaRPr b="1" sz="20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Epigenetic context predicts expression for many genes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9" name="Google Shape;949;p65" title="Apul_R2_round1allgen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69075"/>
            <a:ext cx="12115809" cy="3969048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65"/>
          <p:cNvSpPr txBox="1"/>
          <p:nvPr/>
        </p:nvSpPr>
        <p:spPr>
          <a:xfrm>
            <a:off x="504839" y="5638125"/>
            <a:ext cx="116109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23F54"/>
                </a:solidFill>
              </a:rPr>
              <a:t>(</a:t>
            </a:r>
            <a:r>
              <a:rPr lang="en-US">
                <a:solidFill>
                  <a:srgbClr val="CC0000"/>
                </a:solidFill>
              </a:rPr>
              <a:t>poorly-predicted</a:t>
            </a:r>
            <a:r>
              <a:rPr lang="en-US">
                <a:solidFill>
                  <a:srgbClr val="023F54"/>
                </a:solidFill>
              </a:rPr>
              <a:t>)		             energetic state genes              			(</a:t>
            </a:r>
            <a:r>
              <a:rPr lang="en-US">
                <a:solidFill>
                  <a:srgbClr val="6AA84F"/>
                </a:solidFill>
              </a:rPr>
              <a:t>well-predicted</a:t>
            </a:r>
            <a:r>
              <a:rPr lang="en-US">
                <a:solidFill>
                  <a:srgbClr val="023F54"/>
                </a:solidFill>
              </a:rPr>
              <a:t>)</a:t>
            </a:r>
            <a:endParaRPr>
              <a:solidFill>
                <a:srgbClr val="023F54"/>
              </a:solidFill>
            </a:endParaRPr>
          </a:p>
        </p:txBody>
      </p:sp>
      <p:sp>
        <p:nvSpPr>
          <p:cNvPr id="951" name="Google Shape;951;p65"/>
          <p:cNvSpPr/>
          <p:nvPr/>
        </p:nvSpPr>
        <p:spPr>
          <a:xfrm>
            <a:off x="6461925" y="1676400"/>
            <a:ext cx="5653800" cy="1892400"/>
          </a:xfrm>
          <a:prstGeom prst="roundRect">
            <a:avLst>
              <a:gd fmla="val 3356" name="adj"/>
            </a:avLst>
          </a:prstGeom>
          <a:solidFill>
            <a:srgbClr val="138F14">
              <a:alpha val="10000"/>
            </a:srgbClr>
          </a:solidFill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5"/>
          <p:cNvSpPr txBox="1"/>
          <p:nvPr/>
        </p:nvSpPr>
        <p:spPr>
          <a:xfrm>
            <a:off x="6588146" y="1765295"/>
            <a:ext cx="204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74E13"/>
                </a:solidFill>
              </a:rPr>
              <a:t>45/97 well-predicted</a:t>
            </a:r>
            <a:endParaRPr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6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energetic state example:</a:t>
            </a:r>
            <a:endParaRPr b="1" sz="20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LncRNA dominate predictor pool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6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0" name="Google Shape;960;p66" title="Fig3_dual_bar_predictor_summary.png"/>
          <p:cNvPicPr preferRelativeResize="0"/>
          <p:nvPr/>
        </p:nvPicPr>
        <p:blipFill rotWithShape="1">
          <a:blip r:embed="rId3">
            <a:alphaModFix/>
          </a:blip>
          <a:srcRect b="0" l="0" r="47919" t="9698"/>
          <a:stretch/>
        </p:blipFill>
        <p:spPr>
          <a:xfrm>
            <a:off x="8373115" y="173675"/>
            <a:ext cx="3560770" cy="317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1" name="Google Shape;961;p66"/>
          <p:cNvGrpSpPr/>
          <p:nvPr/>
        </p:nvGrpSpPr>
        <p:grpSpPr>
          <a:xfrm>
            <a:off x="-1" y="974743"/>
            <a:ext cx="7700610" cy="5709582"/>
            <a:chOff x="101600" y="663923"/>
            <a:chExt cx="8115302" cy="6017053"/>
          </a:xfrm>
        </p:grpSpPr>
        <p:pic>
          <p:nvPicPr>
            <p:cNvPr id="962" name="Google Shape;962;p66" title="Apul_stacked_bar_r2_sig (1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1600" y="663923"/>
              <a:ext cx="8115302" cy="601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66"/>
            <p:cNvSpPr/>
            <p:nvPr/>
          </p:nvSpPr>
          <p:spPr>
            <a:xfrm>
              <a:off x="642600" y="4424950"/>
              <a:ext cx="138000" cy="664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4" name="Google Shape;964;p66"/>
            <p:cNvSpPr/>
            <p:nvPr/>
          </p:nvSpPr>
          <p:spPr>
            <a:xfrm>
              <a:off x="795000" y="4994675"/>
              <a:ext cx="138000" cy="94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5" name="Google Shape;965;p66"/>
            <p:cNvSpPr/>
            <p:nvPr/>
          </p:nvSpPr>
          <p:spPr>
            <a:xfrm>
              <a:off x="2027875" y="4638075"/>
              <a:ext cx="138000" cy="4512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6" name="Google Shape;966;p66"/>
            <p:cNvSpPr/>
            <p:nvPr/>
          </p:nvSpPr>
          <p:spPr>
            <a:xfrm>
              <a:off x="2336266" y="4381500"/>
              <a:ext cx="138000" cy="708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7" name="Google Shape;967;p66"/>
            <p:cNvSpPr/>
            <p:nvPr/>
          </p:nvSpPr>
          <p:spPr>
            <a:xfrm>
              <a:off x="2489875" y="4606525"/>
              <a:ext cx="138000" cy="483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8" name="Google Shape;968;p66"/>
            <p:cNvSpPr/>
            <p:nvPr/>
          </p:nvSpPr>
          <p:spPr>
            <a:xfrm>
              <a:off x="2643475" y="4602950"/>
              <a:ext cx="138000" cy="486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69" name="Google Shape;969;p66"/>
            <p:cNvSpPr/>
            <p:nvPr/>
          </p:nvSpPr>
          <p:spPr>
            <a:xfrm>
              <a:off x="2797075" y="4619025"/>
              <a:ext cx="138000" cy="4701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0" name="Google Shape;970;p66"/>
            <p:cNvSpPr/>
            <p:nvPr/>
          </p:nvSpPr>
          <p:spPr>
            <a:xfrm>
              <a:off x="3259075" y="4978600"/>
              <a:ext cx="138000" cy="111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1" name="Google Shape;971;p66"/>
            <p:cNvSpPr/>
            <p:nvPr/>
          </p:nvSpPr>
          <p:spPr>
            <a:xfrm>
              <a:off x="3413150" y="4664275"/>
              <a:ext cx="138000" cy="4251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2" name="Google Shape;972;p66"/>
            <p:cNvSpPr/>
            <p:nvPr/>
          </p:nvSpPr>
          <p:spPr>
            <a:xfrm>
              <a:off x="3567225" y="4551750"/>
              <a:ext cx="138000" cy="5373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3" name="Google Shape;973;p66"/>
            <p:cNvSpPr/>
            <p:nvPr/>
          </p:nvSpPr>
          <p:spPr>
            <a:xfrm>
              <a:off x="4029225" y="4929200"/>
              <a:ext cx="138000" cy="159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4" name="Google Shape;974;p66"/>
            <p:cNvSpPr/>
            <p:nvPr/>
          </p:nvSpPr>
          <p:spPr>
            <a:xfrm>
              <a:off x="4182825" y="4479125"/>
              <a:ext cx="138000" cy="609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5" name="Google Shape;975;p66"/>
            <p:cNvSpPr/>
            <p:nvPr/>
          </p:nvSpPr>
          <p:spPr>
            <a:xfrm>
              <a:off x="4490975" y="4924425"/>
              <a:ext cx="138000" cy="1644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6" name="Google Shape;976;p66"/>
            <p:cNvSpPr/>
            <p:nvPr/>
          </p:nvSpPr>
          <p:spPr>
            <a:xfrm>
              <a:off x="4799125" y="5067300"/>
              <a:ext cx="138000" cy="21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7" name="Google Shape;977;p66"/>
            <p:cNvSpPr/>
            <p:nvPr/>
          </p:nvSpPr>
          <p:spPr>
            <a:xfrm>
              <a:off x="4952725" y="5054200"/>
              <a:ext cx="138000" cy="36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8" name="Google Shape;978;p66"/>
            <p:cNvSpPr/>
            <p:nvPr/>
          </p:nvSpPr>
          <p:spPr>
            <a:xfrm>
              <a:off x="5566644" y="4539850"/>
              <a:ext cx="138000" cy="549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79" name="Google Shape;979;p66"/>
            <p:cNvSpPr/>
            <p:nvPr/>
          </p:nvSpPr>
          <p:spPr>
            <a:xfrm>
              <a:off x="5721434" y="4070750"/>
              <a:ext cx="138000" cy="1017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80" name="Google Shape;980;p66"/>
            <p:cNvSpPr/>
            <p:nvPr/>
          </p:nvSpPr>
          <p:spPr>
            <a:xfrm>
              <a:off x="6029841" y="4767275"/>
              <a:ext cx="138000" cy="321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81" name="Google Shape;981;p66"/>
            <p:cNvSpPr/>
            <p:nvPr/>
          </p:nvSpPr>
          <p:spPr>
            <a:xfrm>
              <a:off x="7106975" y="4286250"/>
              <a:ext cx="138000" cy="802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982" name="Google Shape;982;p66"/>
            <p:cNvSpPr/>
            <p:nvPr/>
          </p:nvSpPr>
          <p:spPr>
            <a:xfrm>
              <a:off x="4434400" y="6286475"/>
              <a:ext cx="2466000" cy="321600"/>
            </a:xfrm>
            <a:prstGeom prst="rect">
              <a:avLst/>
            </a:prstGeom>
            <a:solidFill>
              <a:srgbClr val="FBFBFC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pic>
          <p:nvPicPr>
            <p:cNvPr id="983" name="Google Shape;983;p66" title="Apul_stacked_bar_r2_sig (1).png"/>
            <p:cNvPicPr preferRelativeResize="0"/>
            <p:nvPr/>
          </p:nvPicPr>
          <p:blipFill rotWithShape="1">
            <a:blip r:embed="rId4">
              <a:alphaModFix/>
            </a:blip>
            <a:srcRect b="0" l="60643" r="25664" t="92928"/>
            <a:stretch/>
          </p:blipFill>
          <p:spPr>
            <a:xfrm>
              <a:off x="4370925" y="6255875"/>
              <a:ext cx="1111250" cy="42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4" name="Google Shape;984;p66"/>
          <p:cNvGrpSpPr/>
          <p:nvPr/>
        </p:nvGrpSpPr>
        <p:grpSpPr>
          <a:xfrm>
            <a:off x="8373113" y="3505200"/>
            <a:ext cx="3560763" cy="3179125"/>
            <a:chOff x="8310875" y="3563650"/>
            <a:chExt cx="3560763" cy="3179125"/>
          </a:xfrm>
        </p:grpSpPr>
        <p:sp>
          <p:nvSpPr>
            <p:cNvPr id="985" name="Google Shape;985;p66"/>
            <p:cNvSpPr/>
            <p:nvPr/>
          </p:nvSpPr>
          <p:spPr>
            <a:xfrm>
              <a:off x="8310875" y="3563650"/>
              <a:ext cx="647700" cy="317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6" name="Google Shape;986;p66" title="Fig3_dual_bar_predictor_summary.png"/>
            <p:cNvPicPr preferRelativeResize="0"/>
            <p:nvPr/>
          </p:nvPicPr>
          <p:blipFill rotWithShape="1">
            <a:blip r:embed="rId3">
              <a:alphaModFix/>
            </a:blip>
            <a:srcRect b="0" l="51449" r="0" t="9698"/>
            <a:stretch/>
          </p:blipFill>
          <p:spPr>
            <a:xfrm>
              <a:off x="8552162" y="3563650"/>
              <a:ext cx="3319476" cy="31791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7" name="Google Shape;987;p66"/>
          <p:cNvSpPr/>
          <p:nvPr/>
        </p:nvSpPr>
        <p:spPr>
          <a:xfrm>
            <a:off x="7759700" y="0"/>
            <a:ext cx="4431900" cy="6858000"/>
          </a:xfrm>
          <a:prstGeom prst="rect">
            <a:avLst/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7"/>
          <p:cNvSpPr/>
          <p:nvPr/>
        </p:nvSpPr>
        <p:spPr>
          <a:xfrm>
            <a:off x="7759700" y="0"/>
            <a:ext cx="4431900" cy="6858000"/>
          </a:xfrm>
          <a:prstGeom prst="rect">
            <a:avLst/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7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energetic state example:</a:t>
            </a:r>
            <a:endParaRPr b="1" sz="20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LncRNA dominate predictor pool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67"/>
          <p:cNvSpPr/>
          <p:nvPr/>
        </p:nvSpPr>
        <p:spPr>
          <a:xfrm>
            <a:off x="11414455" y="640080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6" name="Google Shape;996;p67" title="Fig3_dual_bar_predictor_summary.png"/>
          <p:cNvPicPr preferRelativeResize="0"/>
          <p:nvPr/>
        </p:nvPicPr>
        <p:blipFill rotWithShape="1">
          <a:blip r:embed="rId3">
            <a:alphaModFix/>
          </a:blip>
          <a:srcRect b="0" l="0" r="47919" t="9698"/>
          <a:stretch/>
        </p:blipFill>
        <p:spPr>
          <a:xfrm>
            <a:off x="8373115" y="173675"/>
            <a:ext cx="3560770" cy="3179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7" name="Google Shape;997;p67"/>
          <p:cNvGrpSpPr/>
          <p:nvPr/>
        </p:nvGrpSpPr>
        <p:grpSpPr>
          <a:xfrm>
            <a:off x="-1" y="974743"/>
            <a:ext cx="7700610" cy="5709582"/>
            <a:chOff x="101600" y="663923"/>
            <a:chExt cx="8115302" cy="6017053"/>
          </a:xfrm>
        </p:grpSpPr>
        <p:pic>
          <p:nvPicPr>
            <p:cNvPr id="998" name="Google Shape;998;p67" title="Apul_stacked_bar_r2_sig (1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1600" y="663923"/>
              <a:ext cx="8115302" cy="601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67"/>
            <p:cNvSpPr/>
            <p:nvPr/>
          </p:nvSpPr>
          <p:spPr>
            <a:xfrm>
              <a:off x="642600" y="4424950"/>
              <a:ext cx="138000" cy="664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0" name="Google Shape;1000;p67"/>
            <p:cNvSpPr/>
            <p:nvPr/>
          </p:nvSpPr>
          <p:spPr>
            <a:xfrm>
              <a:off x="795000" y="4994675"/>
              <a:ext cx="138000" cy="94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1" name="Google Shape;1001;p67"/>
            <p:cNvSpPr/>
            <p:nvPr/>
          </p:nvSpPr>
          <p:spPr>
            <a:xfrm>
              <a:off x="2027875" y="4638075"/>
              <a:ext cx="138000" cy="4512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2" name="Google Shape;1002;p67"/>
            <p:cNvSpPr/>
            <p:nvPr/>
          </p:nvSpPr>
          <p:spPr>
            <a:xfrm>
              <a:off x="2336266" y="4381500"/>
              <a:ext cx="138000" cy="708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3" name="Google Shape;1003;p67"/>
            <p:cNvSpPr/>
            <p:nvPr/>
          </p:nvSpPr>
          <p:spPr>
            <a:xfrm>
              <a:off x="2489875" y="4606525"/>
              <a:ext cx="138000" cy="483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4" name="Google Shape;1004;p67"/>
            <p:cNvSpPr/>
            <p:nvPr/>
          </p:nvSpPr>
          <p:spPr>
            <a:xfrm>
              <a:off x="2643475" y="4602950"/>
              <a:ext cx="138000" cy="486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5" name="Google Shape;1005;p67"/>
            <p:cNvSpPr/>
            <p:nvPr/>
          </p:nvSpPr>
          <p:spPr>
            <a:xfrm>
              <a:off x="2797075" y="4619025"/>
              <a:ext cx="138000" cy="4701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6" name="Google Shape;1006;p67"/>
            <p:cNvSpPr/>
            <p:nvPr/>
          </p:nvSpPr>
          <p:spPr>
            <a:xfrm>
              <a:off x="3259075" y="4978600"/>
              <a:ext cx="138000" cy="111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7" name="Google Shape;1007;p67"/>
            <p:cNvSpPr/>
            <p:nvPr/>
          </p:nvSpPr>
          <p:spPr>
            <a:xfrm>
              <a:off x="3413150" y="4664275"/>
              <a:ext cx="138000" cy="4251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8" name="Google Shape;1008;p67"/>
            <p:cNvSpPr/>
            <p:nvPr/>
          </p:nvSpPr>
          <p:spPr>
            <a:xfrm>
              <a:off x="3567225" y="4551750"/>
              <a:ext cx="138000" cy="5373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09" name="Google Shape;1009;p67"/>
            <p:cNvSpPr/>
            <p:nvPr/>
          </p:nvSpPr>
          <p:spPr>
            <a:xfrm>
              <a:off x="4029225" y="4929200"/>
              <a:ext cx="138000" cy="159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0" name="Google Shape;1010;p67"/>
            <p:cNvSpPr/>
            <p:nvPr/>
          </p:nvSpPr>
          <p:spPr>
            <a:xfrm>
              <a:off x="4182825" y="4479125"/>
              <a:ext cx="138000" cy="609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1" name="Google Shape;1011;p67"/>
            <p:cNvSpPr/>
            <p:nvPr/>
          </p:nvSpPr>
          <p:spPr>
            <a:xfrm>
              <a:off x="4490975" y="4924425"/>
              <a:ext cx="138000" cy="1644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2" name="Google Shape;1012;p67"/>
            <p:cNvSpPr/>
            <p:nvPr/>
          </p:nvSpPr>
          <p:spPr>
            <a:xfrm>
              <a:off x="4799125" y="5067300"/>
              <a:ext cx="138000" cy="21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3" name="Google Shape;1013;p67"/>
            <p:cNvSpPr/>
            <p:nvPr/>
          </p:nvSpPr>
          <p:spPr>
            <a:xfrm>
              <a:off x="4952725" y="5054200"/>
              <a:ext cx="138000" cy="36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4" name="Google Shape;1014;p67"/>
            <p:cNvSpPr/>
            <p:nvPr/>
          </p:nvSpPr>
          <p:spPr>
            <a:xfrm>
              <a:off x="5566644" y="4539850"/>
              <a:ext cx="138000" cy="5490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5" name="Google Shape;1015;p67"/>
            <p:cNvSpPr/>
            <p:nvPr/>
          </p:nvSpPr>
          <p:spPr>
            <a:xfrm>
              <a:off x="5721434" y="4070750"/>
              <a:ext cx="138000" cy="10179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6" name="Google Shape;1016;p67"/>
            <p:cNvSpPr/>
            <p:nvPr/>
          </p:nvSpPr>
          <p:spPr>
            <a:xfrm>
              <a:off x="6029841" y="4767275"/>
              <a:ext cx="138000" cy="3216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7" name="Google Shape;1017;p67"/>
            <p:cNvSpPr/>
            <p:nvPr/>
          </p:nvSpPr>
          <p:spPr>
            <a:xfrm>
              <a:off x="7106975" y="4286250"/>
              <a:ext cx="138000" cy="802500"/>
            </a:xfrm>
            <a:prstGeom prst="rect">
              <a:avLst/>
            </a:prstGeom>
            <a:solidFill>
              <a:srgbClr val="039E73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sp>
          <p:nvSpPr>
            <p:cNvPr id="1018" name="Google Shape;1018;p67"/>
            <p:cNvSpPr/>
            <p:nvPr/>
          </p:nvSpPr>
          <p:spPr>
            <a:xfrm>
              <a:off x="4434400" y="6286475"/>
              <a:ext cx="2466000" cy="321600"/>
            </a:xfrm>
            <a:prstGeom prst="rect">
              <a:avLst/>
            </a:prstGeom>
            <a:solidFill>
              <a:srgbClr val="FBFBFC"/>
            </a:solidFill>
            <a:ln>
              <a:noFill/>
            </a:ln>
          </p:spPr>
          <p:txBody>
            <a:bodyPr anchorCtr="0" anchor="ctr" bIns="86750" lIns="86750" spcFirstLastPara="1" rIns="86750" wrap="square" tIns="86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28"/>
            </a:p>
          </p:txBody>
        </p:sp>
        <p:pic>
          <p:nvPicPr>
            <p:cNvPr id="1019" name="Google Shape;1019;p67" title="Apul_stacked_bar_r2_sig (1).png"/>
            <p:cNvPicPr preferRelativeResize="0"/>
            <p:nvPr/>
          </p:nvPicPr>
          <p:blipFill rotWithShape="1">
            <a:blip r:embed="rId4">
              <a:alphaModFix/>
            </a:blip>
            <a:srcRect b="0" l="60643" r="25664" t="92928"/>
            <a:stretch/>
          </p:blipFill>
          <p:spPr>
            <a:xfrm>
              <a:off x="4370925" y="6255875"/>
              <a:ext cx="1111250" cy="4251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20" name="Google Shape;1020;p67"/>
          <p:cNvGrpSpPr/>
          <p:nvPr/>
        </p:nvGrpSpPr>
        <p:grpSpPr>
          <a:xfrm>
            <a:off x="8373113" y="3505200"/>
            <a:ext cx="3560763" cy="3179125"/>
            <a:chOff x="8310875" y="3563650"/>
            <a:chExt cx="3560763" cy="3179125"/>
          </a:xfrm>
        </p:grpSpPr>
        <p:sp>
          <p:nvSpPr>
            <p:cNvPr id="1021" name="Google Shape;1021;p67"/>
            <p:cNvSpPr/>
            <p:nvPr/>
          </p:nvSpPr>
          <p:spPr>
            <a:xfrm>
              <a:off x="8310875" y="3563650"/>
              <a:ext cx="647700" cy="3179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2" name="Google Shape;1022;p67" title="Fig3_dual_bar_predictor_summary.png"/>
            <p:cNvPicPr preferRelativeResize="0"/>
            <p:nvPr/>
          </p:nvPicPr>
          <p:blipFill rotWithShape="1">
            <a:blip r:embed="rId3">
              <a:alphaModFix/>
            </a:blip>
            <a:srcRect b="0" l="51449" r="0" t="9698"/>
            <a:stretch/>
          </p:blipFill>
          <p:spPr>
            <a:xfrm>
              <a:off x="8552162" y="3563650"/>
              <a:ext cx="3319476" cy="3179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68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energetic state example:</a:t>
            </a:r>
            <a:endParaRPr b="1" sz="20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CRY1 — a circadian clock gene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" name="Google Shape;1029;p68"/>
          <p:cNvGrpSpPr/>
          <p:nvPr/>
        </p:nvGrpSpPr>
        <p:grpSpPr>
          <a:xfrm>
            <a:off x="2743300" y="952325"/>
            <a:ext cx="6705076" cy="5905666"/>
            <a:chOff x="108842" y="911389"/>
            <a:chExt cx="6858010" cy="6040366"/>
          </a:xfrm>
        </p:grpSpPr>
        <p:pic>
          <p:nvPicPr>
            <p:cNvPr id="1030" name="Google Shape;1030;p68" title="FUN_007022_predictors_with_stability.png"/>
            <p:cNvPicPr preferRelativeResize="0"/>
            <p:nvPr/>
          </p:nvPicPr>
          <p:blipFill rotWithShape="1">
            <a:blip r:embed="rId3">
              <a:alphaModFix/>
            </a:blip>
            <a:srcRect b="14503" l="0" r="0" t="3328"/>
            <a:stretch/>
          </p:blipFill>
          <p:spPr>
            <a:xfrm>
              <a:off x="108842" y="911389"/>
              <a:ext cx="6858010" cy="5635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1" name="Google Shape;1031;p68" title="FUN_007022_predictors_with_stability.png"/>
            <p:cNvPicPr preferRelativeResize="0"/>
            <p:nvPr/>
          </p:nvPicPr>
          <p:blipFill rotWithShape="1">
            <a:blip r:embed="rId3">
              <a:alphaModFix/>
            </a:blip>
            <a:srcRect b="0" l="0" r="0" t="94000"/>
            <a:stretch/>
          </p:blipFill>
          <p:spPr>
            <a:xfrm>
              <a:off x="108850" y="6540282"/>
              <a:ext cx="6857999" cy="4114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32" name="Google Shape;1032;p68"/>
          <p:cNvSpPr/>
          <p:nvPr/>
        </p:nvSpPr>
        <p:spPr>
          <a:xfrm>
            <a:off x="2082800" y="729425"/>
            <a:ext cx="1409700" cy="2229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8"/>
          <p:cNvSpPr/>
          <p:nvPr/>
        </p:nvSpPr>
        <p:spPr>
          <a:xfrm>
            <a:off x="3124200" y="6635100"/>
            <a:ext cx="1409700" cy="2229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9"/>
          <p:cNvSpPr/>
          <p:nvPr/>
        </p:nvSpPr>
        <p:spPr>
          <a:xfrm>
            <a:off x="-10" y="3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A. pulchra</a:t>
            </a:r>
            <a:r>
              <a:rPr b="1" lang="en-US" sz="20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 energetic state example:</a:t>
            </a:r>
            <a:endParaRPr b="1" sz="2000">
              <a:solidFill>
                <a:srgbClr val="0A1E29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CRY1 — a circadian clock gene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0" name="Google Shape;1040;p69"/>
          <p:cNvGrpSpPr/>
          <p:nvPr/>
        </p:nvGrpSpPr>
        <p:grpSpPr>
          <a:xfrm>
            <a:off x="2743300" y="952325"/>
            <a:ext cx="6705076" cy="5905666"/>
            <a:chOff x="108842" y="911389"/>
            <a:chExt cx="6858010" cy="6040366"/>
          </a:xfrm>
        </p:grpSpPr>
        <p:pic>
          <p:nvPicPr>
            <p:cNvPr id="1041" name="Google Shape;1041;p69" title="FUN_007022_predictors_with_stability.png"/>
            <p:cNvPicPr preferRelativeResize="0"/>
            <p:nvPr/>
          </p:nvPicPr>
          <p:blipFill rotWithShape="1">
            <a:blip r:embed="rId3">
              <a:alphaModFix/>
            </a:blip>
            <a:srcRect b="14503" l="0" r="0" t="3328"/>
            <a:stretch/>
          </p:blipFill>
          <p:spPr>
            <a:xfrm>
              <a:off x="108842" y="911389"/>
              <a:ext cx="6858010" cy="56351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2" name="Google Shape;1042;p69" title="FUN_007022_predictors_with_stability.png"/>
            <p:cNvPicPr preferRelativeResize="0"/>
            <p:nvPr/>
          </p:nvPicPr>
          <p:blipFill rotWithShape="1">
            <a:blip r:embed="rId3">
              <a:alphaModFix/>
            </a:blip>
            <a:srcRect b="0" l="0" r="0" t="94000"/>
            <a:stretch/>
          </p:blipFill>
          <p:spPr>
            <a:xfrm>
              <a:off x="108850" y="6540282"/>
              <a:ext cx="6857999" cy="4114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3" name="Google Shape;1043;p69"/>
          <p:cNvSpPr/>
          <p:nvPr/>
        </p:nvSpPr>
        <p:spPr>
          <a:xfrm>
            <a:off x="2082800" y="729425"/>
            <a:ext cx="1409700" cy="2229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9"/>
          <p:cNvSpPr/>
          <p:nvPr/>
        </p:nvSpPr>
        <p:spPr>
          <a:xfrm>
            <a:off x="3124200" y="6635100"/>
            <a:ext cx="1409700" cy="222900"/>
          </a:xfrm>
          <a:prstGeom prst="rect">
            <a:avLst/>
          </a:prstGeom>
          <a:solidFill>
            <a:srgbClr val="FBFB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5" name="Google Shape;1045;p69" title="Screenshot 2026-03-31 at 7.32.28 PM.png"/>
          <p:cNvPicPr preferRelativeResize="0"/>
          <p:nvPr/>
        </p:nvPicPr>
        <p:blipFill rotWithShape="1">
          <a:blip r:embed="rId4">
            <a:alphaModFix/>
          </a:blip>
          <a:srcRect b="0" l="15355" r="0" t="0"/>
          <a:stretch/>
        </p:blipFill>
        <p:spPr>
          <a:xfrm>
            <a:off x="9197705" y="1167816"/>
            <a:ext cx="2576350" cy="73830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69"/>
          <p:cNvSpPr txBox="1"/>
          <p:nvPr/>
        </p:nvSpPr>
        <p:spPr>
          <a:xfrm>
            <a:off x="9077450" y="379625"/>
            <a:ext cx="279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B1A2E"/>
                </a:solidFill>
              </a:rPr>
              <a:t>Structural verification!</a:t>
            </a:r>
            <a:endParaRPr sz="2100">
              <a:solidFill>
                <a:srgbClr val="0B1A2E"/>
              </a:solidFill>
            </a:endParaRPr>
          </a:p>
        </p:txBody>
      </p:sp>
      <p:sp>
        <p:nvSpPr>
          <p:cNvPr id="1047" name="Google Shape;1047;p69"/>
          <p:cNvSpPr txBox="1"/>
          <p:nvPr/>
        </p:nvSpPr>
        <p:spPr>
          <a:xfrm>
            <a:off x="9079849" y="837116"/>
            <a:ext cx="27942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miRNA putatively binds to CRY1</a:t>
            </a:r>
            <a:endParaRPr>
              <a:solidFill>
                <a:srgbClr val="595959"/>
              </a:solidFill>
            </a:endParaRPr>
          </a:p>
        </p:txBody>
      </p:sp>
      <p:cxnSp>
        <p:nvCxnSpPr>
          <p:cNvPr id="1048" name="Google Shape;1048;p69"/>
          <p:cNvCxnSpPr/>
          <p:nvPr/>
        </p:nvCxnSpPr>
        <p:spPr>
          <a:xfrm>
            <a:off x="8202179" y="1382275"/>
            <a:ext cx="1395000" cy="88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DE8E07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9" name="Google Shape;1049;p69" title="Screenshot 2026-03-31 at 11.38.59 PM.png"/>
          <p:cNvPicPr preferRelativeResize="0"/>
          <p:nvPr/>
        </p:nvPicPr>
        <p:blipFill rotWithShape="1">
          <a:blip r:embed="rId5">
            <a:alphaModFix/>
          </a:blip>
          <a:srcRect b="17829" l="9455" r="7825" t="13781"/>
          <a:stretch/>
        </p:blipFill>
        <p:spPr>
          <a:xfrm rot="-1121895">
            <a:off x="9810083" y="1304229"/>
            <a:ext cx="750399" cy="244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BFC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70"/>
          <p:cNvSpPr/>
          <p:nvPr/>
        </p:nvSpPr>
        <p:spPr>
          <a:xfrm>
            <a:off x="1" y="0"/>
            <a:ext cx="12191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ross-layer interactions in corals add complexity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70"/>
          <p:cNvSpPr/>
          <p:nvPr/>
        </p:nvSpPr>
        <p:spPr>
          <a:xfrm>
            <a:off x="302375" y="1073450"/>
            <a:ext cx="4097400" cy="2674800"/>
          </a:xfrm>
          <a:prstGeom prst="roundRect">
            <a:avLst>
              <a:gd fmla="val 3957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70"/>
          <p:cNvSpPr txBox="1"/>
          <p:nvPr/>
        </p:nvSpPr>
        <p:spPr>
          <a:xfrm>
            <a:off x="498925" y="1224550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2C4C9"/>
                </a:solidFill>
              </a:rPr>
              <a:t>epi-miRNAs</a:t>
            </a:r>
            <a:endParaRPr b="1" sz="2000">
              <a:solidFill>
                <a:srgbClr val="A2C4C9"/>
              </a:solidFill>
            </a:endParaRPr>
          </a:p>
        </p:txBody>
      </p:sp>
      <p:sp>
        <p:nvSpPr>
          <p:cNvPr id="1058" name="Google Shape;1058;p70"/>
          <p:cNvSpPr txBox="1"/>
          <p:nvPr/>
        </p:nvSpPr>
        <p:spPr>
          <a:xfrm>
            <a:off x="498925" y="1632850"/>
            <a:ext cx="3628500" cy="1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2C4C9"/>
                </a:solidFill>
              </a:rPr>
              <a:t>miRNAs targeting the foundational machinery of epigenetic pathways</a:t>
            </a:r>
            <a:endParaRPr sz="1700">
              <a:solidFill>
                <a:srgbClr val="A2C4C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A2C4C9"/>
              </a:solidFill>
            </a:endParaRPr>
          </a:p>
        </p:txBody>
      </p:sp>
      <p:sp>
        <p:nvSpPr>
          <p:cNvPr id="1059" name="Google Shape;1059;p70"/>
          <p:cNvSpPr/>
          <p:nvPr/>
        </p:nvSpPr>
        <p:spPr>
          <a:xfrm>
            <a:off x="302375" y="3932175"/>
            <a:ext cx="4097400" cy="2674800"/>
          </a:xfrm>
          <a:prstGeom prst="roundRect">
            <a:avLst>
              <a:gd fmla="val 3957" name="adj"/>
            </a:avLst>
          </a:prstGeom>
          <a:solidFill>
            <a:srgbClr val="023F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0"/>
          <p:cNvSpPr txBox="1"/>
          <p:nvPr/>
        </p:nvSpPr>
        <p:spPr>
          <a:xfrm>
            <a:off x="498925" y="4068250"/>
            <a:ext cx="17235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2C4C9"/>
                </a:solidFill>
              </a:rPr>
              <a:t>ceRNAs</a:t>
            </a:r>
            <a:endParaRPr b="1" sz="2000">
              <a:solidFill>
                <a:srgbClr val="A2C4C9"/>
              </a:solidFill>
            </a:endParaRPr>
          </a:p>
        </p:txBody>
      </p:sp>
      <p:sp>
        <p:nvSpPr>
          <p:cNvPr id="1061" name="Google Shape;1061;p70"/>
          <p:cNvSpPr txBox="1"/>
          <p:nvPr/>
        </p:nvSpPr>
        <p:spPr>
          <a:xfrm>
            <a:off x="498925" y="4491575"/>
            <a:ext cx="3900900" cy="1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2C4C9"/>
                </a:solidFill>
              </a:rPr>
              <a:t>lncRNAs mediating the indirect derepressin of miRNA targets</a:t>
            </a:r>
            <a:endParaRPr sz="2000">
              <a:solidFill>
                <a:srgbClr val="A2C4C9"/>
              </a:solidFill>
            </a:endParaRPr>
          </a:p>
        </p:txBody>
      </p:sp>
      <p:graphicFrame>
        <p:nvGraphicFramePr>
          <p:cNvPr id="1062" name="Google Shape;1062;p70"/>
          <p:cNvGraphicFramePr/>
          <p:nvPr/>
        </p:nvGraphicFramePr>
        <p:xfrm>
          <a:off x="1032863" y="526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{9665AB95-0354-442B-8A9C-EF306FA1A1F9}</a:tableStyleId>
              </a:tblPr>
              <a:tblGrid>
                <a:gridCol w="1870575"/>
                <a:gridCol w="765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A. pulchra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564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P. evermanni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175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P. tuahiniensis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564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63" name="Google Shape;1063;p70"/>
          <p:cNvGraphicFramePr/>
          <p:nvPr/>
        </p:nvGraphicFramePr>
        <p:xfrm>
          <a:off x="1032863" y="241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{9665AB95-0354-442B-8A9C-EF306FA1A1F9}</a:tableStyleId>
              </a:tblPr>
              <a:tblGrid>
                <a:gridCol w="1870575"/>
                <a:gridCol w="765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A. pulchra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35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P. evermanni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15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P. tuahiniensis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A2C4C9"/>
                          </a:solidFill>
                        </a:rPr>
                        <a:t>16</a:t>
                      </a:r>
                      <a:endParaRPr>
                        <a:solidFill>
                          <a:srgbClr val="A2C4C9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4" name="Google Shape;1064;p70"/>
          <p:cNvSpPr txBox="1"/>
          <p:nvPr/>
        </p:nvSpPr>
        <p:spPr>
          <a:xfrm>
            <a:off x="6153450" y="2024759"/>
            <a:ext cx="51555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30002"/>
                </a:solidFill>
              </a:rPr>
              <a:t>Since epigenetic layers interact, </a:t>
            </a:r>
            <a:r>
              <a:rPr b="1" lang="en-US" sz="2500">
                <a:solidFill>
                  <a:srgbClr val="130002"/>
                </a:solidFill>
              </a:rPr>
              <a:t>single-layer analyses miss the full picture</a:t>
            </a:r>
            <a:endParaRPr sz="2500">
              <a:solidFill>
                <a:srgbClr val="1300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300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3000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30002"/>
                </a:solidFill>
              </a:rPr>
              <a:t>I</a:t>
            </a:r>
            <a:r>
              <a:rPr lang="en-US" sz="2500">
                <a:solidFill>
                  <a:srgbClr val="130002"/>
                </a:solidFill>
              </a:rPr>
              <a:t>nstead, can we model them </a:t>
            </a:r>
            <a:r>
              <a:rPr b="1" i="1" lang="en-US" sz="2500">
                <a:solidFill>
                  <a:srgbClr val="130002"/>
                </a:solidFill>
              </a:rPr>
              <a:t>jointly</a:t>
            </a:r>
            <a:r>
              <a:rPr lang="en-US" sz="2500">
                <a:solidFill>
                  <a:srgbClr val="130002"/>
                </a:solidFill>
              </a:rPr>
              <a:t> to predict outcomes?</a:t>
            </a:r>
            <a:endParaRPr sz="2500">
              <a:solidFill>
                <a:srgbClr val="130002"/>
              </a:solidFill>
            </a:endParaRPr>
          </a:p>
        </p:txBody>
      </p:sp>
      <p:pic>
        <p:nvPicPr>
          <p:cNvPr id="1065" name="Google Shape;106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376" y="2213399"/>
            <a:ext cx="990374" cy="99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2377" y="3848118"/>
            <a:ext cx="990374" cy="99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71"/>
          <p:cNvSpPr/>
          <p:nvPr/>
        </p:nvSpPr>
        <p:spPr>
          <a:xfrm>
            <a:off x="558550" y="1385450"/>
            <a:ext cx="5440800" cy="29538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71"/>
          <p:cNvSpPr/>
          <p:nvPr/>
        </p:nvSpPr>
        <p:spPr>
          <a:xfrm>
            <a:off x="6200925" y="1385450"/>
            <a:ext cx="5440800" cy="2953800"/>
          </a:xfrm>
          <a:prstGeom prst="roundRect">
            <a:avLst>
              <a:gd fmla="val 5487" name="adj"/>
            </a:avLst>
          </a:prstGeom>
          <a:noFill/>
          <a:ln cap="flat" cmpd="sng" w="19050">
            <a:solidFill>
              <a:srgbClr val="023F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71"/>
          <p:cNvSpPr/>
          <p:nvPr/>
        </p:nvSpPr>
        <p:spPr>
          <a:xfrm>
            <a:off x="-10" y="7135"/>
            <a:ext cx="1106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E29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0A1E29"/>
                </a:solidFill>
                <a:latin typeface="Georgia"/>
                <a:ea typeface="Georgia"/>
                <a:cs typeface="Georgia"/>
                <a:sym typeface="Georgia"/>
              </a:rPr>
              <a:t>Takeaways – where we’re headed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1"/>
          <p:cNvSpPr/>
          <p:nvPr/>
        </p:nvSpPr>
        <p:spPr>
          <a:xfrm>
            <a:off x="851186" y="1663237"/>
            <a:ext cx="777300" cy="777300"/>
          </a:xfrm>
          <a:prstGeom prst="ellipse">
            <a:avLst/>
          </a:prstGeom>
          <a:solidFill>
            <a:srgbClr val="0A95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1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76" name="Google Shape;1076;p71"/>
          <p:cNvSpPr/>
          <p:nvPr/>
        </p:nvSpPr>
        <p:spPr>
          <a:xfrm>
            <a:off x="7437288" y="1677424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958B"/>
              </a:buClr>
              <a:buSzPts val="1600"/>
              <a:buFont typeface="Georgia"/>
              <a:buNone/>
            </a:pPr>
            <a:r>
              <a:rPr b="1" lang="en-US" sz="2000">
                <a:solidFill>
                  <a:srgbClr val="8E6B33"/>
                </a:solidFill>
                <a:latin typeface="Georgia"/>
                <a:ea typeface="Georgia"/>
                <a:cs typeface="Georgia"/>
                <a:sym typeface="Georgia"/>
              </a:rPr>
              <a:t>Epigenome predicts expression</a:t>
            </a:r>
            <a:endParaRPr b="0" i="0" sz="2000" u="none" cap="none" strike="noStrike">
              <a:solidFill>
                <a:srgbClr val="8E6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71"/>
          <p:cNvSpPr/>
          <p:nvPr/>
        </p:nvSpPr>
        <p:spPr>
          <a:xfrm>
            <a:off x="7460250" y="2322450"/>
            <a:ext cx="3931800" cy="15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300"/>
              <a:buFont typeface="Calibri"/>
              <a:buNone/>
            </a:pPr>
            <a:r>
              <a:rPr lang="en-US" sz="19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Integrated e</a:t>
            </a:r>
            <a:r>
              <a:rPr b="0" i="0" lang="en-US" sz="19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pigenetic context stably predicts expression for a subset of</a:t>
            </a:r>
            <a:r>
              <a:rPr lang="en-US" sz="19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 functionally-relevant </a:t>
            </a:r>
            <a:r>
              <a:rPr b="0" i="0" lang="en-US" sz="1900" u="none" cap="none" strike="noStrike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genes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71"/>
          <p:cNvSpPr/>
          <p:nvPr/>
        </p:nvSpPr>
        <p:spPr>
          <a:xfrm>
            <a:off x="6493521" y="1677433"/>
            <a:ext cx="777300" cy="777300"/>
          </a:xfrm>
          <a:prstGeom prst="ellipse">
            <a:avLst/>
          </a:prstGeom>
          <a:solidFill>
            <a:srgbClr val="8E6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2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79" name="Google Shape;1079;p71"/>
          <p:cNvSpPr/>
          <p:nvPr/>
        </p:nvSpPr>
        <p:spPr>
          <a:xfrm>
            <a:off x="1778997" y="1627733"/>
            <a:ext cx="397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6B33"/>
              </a:buClr>
              <a:buSzPts val="1600"/>
              <a:buFont typeface="Georgia"/>
              <a:buNone/>
            </a:pPr>
            <a:r>
              <a:rPr b="1" lang="en-US" sz="2000">
                <a:solidFill>
                  <a:srgbClr val="0B948B"/>
                </a:solidFill>
                <a:latin typeface="Georgia"/>
                <a:ea typeface="Georgia"/>
                <a:cs typeface="Georgia"/>
                <a:sym typeface="Georgia"/>
              </a:rPr>
              <a:t>Layers interact</a:t>
            </a:r>
            <a:endParaRPr b="1" sz="2000">
              <a:solidFill>
                <a:srgbClr val="0B948B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0" name="Google Shape;1080;p71"/>
          <p:cNvSpPr/>
          <p:nvPr/>
        </p:nvSpPr>
        <p:spPr>
          <a:xfrm>
            <a:off x="1779000" y="2322450"/>
            <a:ext cx="39318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First evidence of cross-layer epigenetic regulation in cnidarians:</a:t>
            </a:r>
            <a:endParaRPr sz="1800">
              <a:solidFill>
                <a:srgbClr val="5D73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miRNAs target epigenetic machinery (epi-miRNAs)</a:t>
            </a:r>
            <a:endParaRPr sz="1800">
              <a:solidFill>
                <a:srgbClr val="5D73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D7378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5D7378"/>
                </a:solidFill>
                <a:latin typeface="Calibri"/>
                <a:ea typeface="Calibri"/>
                <a:cs typeface="Calibri"/>
                <a:sym typeface="Calibri"/>
              </a:rPr>
              <a:t>lncRNAs sequester miRNAs (ceRNAs)</a:t>
            </a:r>
            <a:endParaRPr sz="1800">
              <a:solidFill>
                <a:srgbClr val="5D737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